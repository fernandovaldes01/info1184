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6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69480" y="-137160"/>
            <a:ext cx="5120640" cy="7223760"/>
          </a:xfrm>
          <a:prstGeom prst="rect">
            <a:avLst/>
          </a:prstGeom>
          <a:solidFill>
            <a:srgbClr val="2D6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18120" y="411480"/>
            <a:ext cx="4114800" cy="5669280"/>
          </a:xfrm>
          <a:prstGeom prst="round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76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512064"/>
            <a:ext cx="2194560" cy="274320"/>
          </a:xfrm>
          <a:prstGeom prst="roundRect">
            <a:avLst/>
          </a:prstGeom>
          <a:solidFill>
            <a:srgbClr val="FB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l"/>
            <a:r>
              <a:rPr sz="919" b="1" i="0">
                <a:solidFill>
                  <a:srgbClr val="B48846"/>
                </a:solidFill>
                <a:latin typeface="Aptos"/>
              </a:rPr>
              <a:t>Disertacion 3  |  INFO1184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ptos Display"/>
              </a:rPr>
              <a:t>DBSCAN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F6F3EE"/>
                </a:solidFill>
                <a:latin typeface="Aptos"/>
              </a:rPr>
              <a:t>Agrupamiento basado en densidad para detectar
formas arbitrarias y ruido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88920"/>
            <a:ext cx="4434840" cy="987552"/>
          </a:xfrm>
          <a:prstGeom prst="roundRect">
            <a:avLst/>
          </a:prstGeom>
          <a:solidFill>
            <a:srgbClr val="EE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80944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D6F73"/>
                </a:solidFill>
                <a:latin typeface="Aptos"/>
              </a:rPr>
              <a:t>Idea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218688"/>
            <a:ext cx="38221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D2730"/>
                </a:solidFill>
                <a:latin typeface="Aptos"/>
              </a:rPr>
              <a:t>DBSCAN encuentra clusters sin fijar k y separa automaticamente los puntos atipicos.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16052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EAF1F8"/>
                </a:solidFill>
                <a:latin typeface="Aptos"/>
              </a:rPr>
              <a:t>Density-Based Spatial Clustering of Applications with 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773168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Juan Munoz | Vicente Rivera | Fernando Valdes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138928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AF1F8"/>
                </a:solidFill>
                <a:latin typeface="Aptos"/>
              </a:rPr>
              <a:t>Inteligencia de Negocios  |  Semestre I-2026</a:t>
            </a:r>
          </a:p>
        </p:txBody>
      </p:sp>
      <p:sp>
        <p:nvSpPr>
          <p:cNvPr id="14" name="Oval 13"/>
          <p:cNvSpPr/>
          <p:nvPr/>
        </p:nvSpPr>
        <p:spPr>
          <a:xfrm>
            <a:off x="8485632" y="1078992"/>
            <a:ext cx="210312" cy="210312"/>
          </a:xfrm>
          <a:prstGeom prst="ellipse">
            <a:avLst/>
          </a:prstGeom>
          <a:solidFill>
            <a:srgbClr val="29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15400" y="1627632"/>
            <a:ext cx="173736" cy="173736"/>
          </a:xfrm>
          <a:prstGeom prst="ellipse">
            <a:avLst/>
          </a:prstGeom>
          <a:solidFill>
            <a:srgbClr val="29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73184" y="1389888"/>
            <a:ext cx="155448" cy="155448"/>
          </a:xfrm>
          <a:prstGeom prst="ellipse">
            <a:avLst/>
          </a:prstGeom>
          <a:solidFill>
            <a:srgbClr val="29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38944" y="1856231"/>
            <a:ext cx="192024" cy="192024"/>
          </a:xfrm>
          <a:prstGeom prst="ellipse">
            <a:avLst/>
          </a:prstGeom>
          <a:solidFill>
            <a:srgbClr val="29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25712" y="2066543"/>
            <a:ext cx="146304" cy="146304"/>
          </a:xfrm>
          <a:prstGeom prst="ellipse">
            <a:avLst/>
          </a:prstGeom>
          <a:solidFill>
            <a:srgbClr val="29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78440" y="3749039"/>
            <a:ext cx="201168" cy="201168"/>
          </a:xfrm>
          <a:prstGeom prst="ellipse">
            <a:avLst/>
          </a:prstGeom>
          <a:solidFill>
            <a:srgbClr val="2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0" y="4133087"/>
            <a:ext cx="164592" cy="164592"/>
          </a:xfrm>
          <a:prstGeom prst="ellipse">
            <a:avLst/>
          </a:prstGeom>
          <a:solidFill>
            <a:srgbClr val="2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37392" y="3675887"/>
            <a:ext cx="146304" cy="146304"/>
          </a:xfrm>
          <a:prstGeom prst="ellipse">
            <a:avLst/>
          </a:prstGeom>
          <a:solidFill>
            <a:srgbClr val="2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25328" y="3255264"/>
            <a:ext cx="182880" cy="182880"/>
          </a:xfrm>
          <a:prstGeom prst="ellipse">
            <a:avLst/>
          </a:prstGeom>
          <a:solidFill>
            <a:srgbClr val="2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09376" y="3182112"/>
            <a:ext cx="164592" cy="164592"/>
          </a:xfrm>
          <a:prstGeom prst="ellipse">
            <a:avLst/>
          </a:prstGeom>
          <a:solidFill>
            <a:srgbClr val="2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50224" y="4919472"/>
            <a:ext cx="91440" cy="91440"/>
          </a:xfrm>
          <a:prstGeom prst="ellipse">
            <a:avLst/>
          </a:prstGeom>
          <a:solidFill>
            <a:srgbClr val="C76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54896" y="4590288"/>
            <a:ext cx="73152" cy="73152"/>
          </a:xfrm>
          <a:prstGeom prst="ellipse">
            <a:avLst/>
          </a:prstGeom>
          <a:solidFill>
            <a:srgbClr val="C76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92256" y="1609344"/>
            <a:ext cx="73152" cy="73152"/>
          </a:xfrm>
          <a:prstGeom prst="ellipse">
            <a:avLst/>
          </a:prstGeom>
          <a:solidFill>
            <a:srgbClr val="C76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10896"/>
            <a:ext cx="1417320" cy="274320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l"/>
            <a:r>
              <a:rPr sz="919" b="1" i="0">
                <a:solidFill>
                  <a:srgbClr val="11263C"/>
                </a:solidFill>
                <a:latin typeface="Aptos"/>
              </a:rPr>
              <a:t>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1263C"/>
                </a:solidFill>
                <a:latin typeface="Aptos Display"/>
              </a:rPr>
              <a:t>Temario y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7406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727F"/>
                </a:solidFill>
                <a:latin typeface="Aptos"/>
              </a:rPr>
              <a:t>Estructura alineada con la pauta general de disertaciones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6727F"/>
                </a:solidFill>
                <a:latin typeface="Aptos"/>
              </a:rPr>
              <a:t>INFO1184  |  Disertacion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38251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6727F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3986784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0078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1263C"/>
                </a:solidFill>
                <a:latin typeface="Aptos Display"/>
              </a:rPr>
              <a:t>Temario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66543"/>
            <a:ext cx="338328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20" b="1" i="0">
                <a:solidFill>
                  <a:srgbClr val="1D2730"/>
                </a:solidFill>
                <a:latin typeface="Aptos"/>
              </a:rPr>
              <a:t>1. Contexto y problema del clustering</a:t>
            </a:r>
          </a:p>
          <a:p>
            <a:pPr algn="l">
              <a:spcAft>
                <a:spcPts val="500"/>
              </a:spcAft>
            </a:pPr>
            <a:r>
              <a:rPr sz="1220" b="1" i="0">
                <a:solidFill>
                  <a:srgbClr val="1D2730"/>
                </a:solidFill>
                <a:latin typeface="Aptos"/>
              </a:rPr>
              <a:t>2. Funcionamiento de DBSCAN: eps, MinPts y expansion</a:t>
            </a:r>
          </a:p>
          <a:p>
            <a:pPr algn="l">
              <a:spcAft>
                <a:spcPts val="500"/>
              </a:spcAft>
            </a:pPr>
            <a:r>
              <a:rPr sz="1220" b="1" i="0">
                <a:solidFill>
                  <a:srgbClr val="1D2730"/>
                </a:solidFill>
                <a:latin typeface="Aptos"/>
              </a:rPr>
              <a:t>3. Ejemplo demostrativo con datos sinteticos</a:t>
            </a:r>
          </a:p>
          <a:p>
            <a:pPr algn="l">
              <a:spcAft>
                <a:spcPts val="500"/>
              </a:spcAft>
            </a:pPr>
            <a:r>
              <a:rPr sz="1220" b="1" i="0">
                <a:solidFill>
                  <a:srgbClr val="1D2730"/>
                </a:solidFill>
                <a:latin typeface="Aptos"/>
              </a:rPr>
              <a:t>4. Aplicaciones del metodo en casos reales</a:t>
            </a:r>
          </a:p>
          <a:p>
            <a:pPr algn="l">
              <a:spcAft>
                <a:spcPts val="500"/>
              </a:spcAft>
            </a:pPr>
            <a:r>
              <a:rPr sz="1220" b="1" i="0">
                <a:solidFill>
                  <a:srgbClr val="1D2730"/>
                </a:solidFill>
                <a:latin typeface="Aptos"/>
              </a:rPr>
              <a:t>5. Ventajas, limitaciones y cierre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45152"/>
            <a:ext cx="3218688" cy="896112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84632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1263C"/>
                </a:solidFill>
                <a:latin typeface="Aptos"/>
              </a:rPr>
              <a:t>Proposicion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2761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i="0">
                <a:solidFill>
                  <a:srgbClr val="1D2730"/>
                </a:solidFill>
                <a:latin typeface="Aptos"/>
              </a:rPr>
              <a:t>DBSCAN es especialmente util cuando el numero de grupos es desconocido y el ruido no puede ignorarse.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8032" y="1481328"/>
            <a:ext cx="6784848" cy="1225296"/>
          </a:xfrm>
          <a:prstGeom prst="roundRect">
            <a:avLst/>
          </a:prstGeom>
          <a:solidFill>
            <a:srgbClr val="11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1755648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EF6F4"/>
                </a:solidFill>
                <a:latin typeface="Aptos"/>
              </a:rPr>
              <a:t>Gancho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1975104"/>
            <a:ext cx="59984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Display"/>
              </a:rPr>
              <a:t>En datos reales no siempre existen clusters redondos ni limpios; muchas veces hay formas irregulares y observaciones aisladas.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8032" y="2999232"/>
            <a:ext cx="1993392" cy="2542032"/>
          </a:xfrm>
          <a:prstGeom prst="roundRect">
            <a:avLst/>
          </a:prstGeom>
          <a:solidFill>
            <a:srgbClr val="F9ECE7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324612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7684A"/>
                </a:solidFill>
                <a:latin typeface="Aptos Display"/>
              </a:rPr>
              <a:t>Problema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639312"/>
            <a:ext cx="157276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D2730"/>
                </a:solidFill>
                <a:latin typeface="Aptos"/>
              </a:rPr>
              <a:t>K-means necesita fijar k y suele asumir grupos compactos, por lo que puede forzar particiones poco naturales.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50608" y="2999232"/>
            <a:ext cx="1993392" cy="2542032"/>
          </a:xfrm>
          <a:prstGeom prst="roundRect">
            <a:avLst/>
          </a:prstGeom>
          <a:solidFill>
            <a:srgbClr val="EEF6F4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51776" y="324612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D6F73"/>
                </a:solidFill>
                <a:latin typeface="Aptos Display"/>
              </a:rPr>
              <a:t>Respuesta de DBSCAN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776" y="3639312"/>
            <a:ext cx="157276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D2730"/>
                </a:solidFill>
                <a:latin typeface="Aptos"/>
              </a:rPr>
              <a:t>Agrupa por densidad local: une puntos densos, reconoce bordes y deja fuera el ruido.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73184" y="2999232"/>
            <a:ext cx="1993392" cy="2542032"/>
          </a:xfrm>
          <a:prstGeom prst="roundRect">
            <a:avLst/>
          </a:prstGeom>
          <a:solidFill>
            <a:srgbClr val="FBF3E7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74352" y="324612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48846"/>
                </a:solidFill>
                <a:latin typeface="Aptos Display"/>
              </a:rPr>
              <a:t>Valor analitico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3639312"/>
            <a:ext cx="157276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 i="0">
                <a:solidFill>
                  <a:srgbClr val="1D2730"/>
                </a:solidFill>
                <a:latin typeface="Aptos"/>
              </a:rPr>
              <a:t>Entrega clusters mas cercanos a la forma real de los datos cuando existen outliers o geometrias no esfericas.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10896"/>
            <a:ext cx="1417320" cy="274320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l"/>
            <a:r>
              <a:rPr sz="919" b="1" i="0">
                <a:solidFill>
                  <a:srgbClr val="11263C"/>
                </a:solidFill>
                <a:latin typeface="Aptos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1263C"/>
                </a:solidFill>
                <a:latin typeface="Aptos Display"/>
              </a:rPr>
              <a:t>Que problema resuelve DBSCAN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7406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727F"/>
                </a:solidFill>
                <a:latin typeface="Aptos"/>
              </a:rPr>
              <a:t>Agrupar cuando la forma de los datos importa tanto como la distancia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6727F"/>
                </a:solidFill>
                <a:latin typeface="Aptos"/>
              </a:rPr>
              <a:t>INFO1184  |  Disertacion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38251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6727F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3895344" cy="4517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1907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1263C"/>
                </a:solidFill>
                <a:latin typeface="Aptos Display"/>
              </a:rPr>
              <a:t>Cuando un metodo tradicional falla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39696"/>
            <a:ext cx="3200400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10" b="0" i="0">
                <a:solidFill>
                  <a:srgbClr val="1D2730"/>
                </a:solidFill>
                <a:latin typeface="Aptos"/>
              </a:rPr>
              <a:t>- El numero de clusters puede ser desconocido desde el inicio.</a:t>
            </a:r>
          </a:p>
          <a:p>
            <a:pPr algn="l">
              <a:spcAft>
                <a:spcPts val="500"/>
              </a:spcAft>
            </a:pPr>
            <a:r>
              <a:rPr sz="1110" b="0" i="0">
                <a:solidFill>
                  <a:srgbClr val="1D2730"/>
                </a:solidFill>
                <a:latin typeface="Aptos"/>
              </a:rPr>
              <a:t>- La forma real puede ser curva, alargada o fragmentada.</a:t>
            </a:r>
          </a:p>
          <a:p>
            <a:pPr algn="l">
              <a:spcAft>
                <a:spcPts val="500"/>
              </a:spcAft>
            </a:pPr>
            <a:r>
              <a:rPr sz="1110" b="0" i="0">
                <a:solidFill>
                  <a:srgbClr val="1D2730"/>
                </a:solidFill>
                <a:latin typeface="Aptos"/>
              </a:rPr>
              <a:t>- Los puntos atipicos distorsionan centroides y medias.</a:t>
            </a:r>
          </a:p>
          <a:p>
            <a:pPr algn="l">
              <a:spcAft>
                <a:spcPts val="500"/>
              </a:spcAft>
            </a:pPr>
            <a:r>
              <a:rPr sz="1110" b="0" i="0">
                <a:solidFill>
                  <a:srgbClr val="1D2730"/>
                </a:solidFill>
                <a:latin typeface="Aptos"/>
              </a:rPr>
              <a:t>- En bases reales hay zonas densas y zonas poco pobladas.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33087"/>
            <a:ext cx="3310128" cy="1280160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352544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1263C"/>
                </a:solidFill>
                <a:latin typeface="Aptos"/>
              </a:rPr>
              <a:t>Lectura clave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608576"/>
            <a:ext cx="2761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D2730"/>
                </a:solidFill>
                <a:latin typeface="Aptos"/>
              </a:rPr>
              <a:t>DBSCAN no pregunta primero cuantos grupos existen; primero identifica donde realmente hay densidad suficiente.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0016" y="1481328"/>
            <a:ext cx="6912864" cy="4517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ig01_dbscan_d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810512"/>
            <a:ext cx="5166678" cy="33832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02352" y="5340096"/>
            <a:ext cx="6291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 i="1">
                <a:solidFill>
                  <a:srgbClr val="66727F"/>
                </a:solidFill>
                <a:latin typeface="Aptos"/>
              </a:rPr>
              <a:t>Fig. 1. Nube de datos con forma irregular y posibles outliers. Elaboracion propia.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10896"/>
            <a:ext cx="1417320" cy="274320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l"/>
            <a:r>
              <a:rPr sz="919" b="1" i="0">
                <a:solidFill>
                  <a:srgbClr val="11263C"/>
                </a:solidFill>
                <a:latin typeface="Aptos"/>
              </a:rPr>
              <a:t>Metodo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1263C"/>
                </a:solidFill>
                <a:latin typeface="Aptos Display"/>
              </a:rPr>
              <a:t>Como funciona DBSCAN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7406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727F"/>
                </a:solidFill>
                <a:latin typeface="Aptos"/>
              </a:rPr>
              <a:t>El cluster nace desde vecindades densas y se expande por conectividad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6727F"/>
                </a:solidFill>
                <a:latin typeface="Aptos"/>
              </a:rPr>
              <a:t>INFO1184  |  Disertacion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38251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6727F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99616"/>
            <a:ext cx="461772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1907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1263C"/>
                </a:solidFill>
                <a:latin typeface="Aptos Display"/>
              </a:rPr>
              <a:t>Conceptos 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084831"/>
            <a:ext cx="621792" cy="274320"/>
          </a:xfrm>
          <a:prstGeom prst="roundRect">
            <a:avLst/>
          </a:prstGeom>
          <a:solidFill>
            <a:srgbClr val="FB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l"/>
            <a:r>
              <a:rPr sz="919" b="1" i="0">
                <a:solidFill>
                  <a:srgbClr val="B48846"/>
                </a:solidFill>
                <a:latin typeface="Aptos"/>
              </a:rPr>
              <a:t>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066543"/>
            <a:ext cx="27249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1D2730"/>
                </a:solidFill>
                <a:latin typeface="Aptos"/>
              </a:rPr>
              <a:t>Radio que define la vecindad local de un punto.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487168"/>
            <a:ext cx="914400" cy="274320"/>
          </a:xfrm>
          <a:prstGeom prst="roundRect">
            <a:avLst/>
          </a:prstGeom>
          <a:solidFill>
            <a:srgbClr val="EE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l"/>
            <a:r>
              <a:rPr sz="919" b="1" i="0">
                <a:solidFill>
                  <a:srgbClr val="2D6F73"/>
                </a:solidFill>
                <a:latin typeface="Aptos"/>
              </a:rPr>
              <a:t>MinPts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68880"/>
            <a:ext cx="24871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1D2730"/>
                </a:solidFill>
                <a:latin typeface="Aptos"/>
              </a:rPr>
              <a:t>Minimo de puntos dentro de eps para considerar densidad suficiente.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2980944"/>
            <a:ext cx="749808" cy="274320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l"/>
            <a:r>
              <a:rPr sz="919" b="1" i="0">
                <a:solidFill>
                  <a:srgbClr val="2967A5"/>
                </a:solidFill>
                <a:latin typeface="Aptos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962656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1D2730"/>
                </a:solidFill>
                <a:latin typeface="Aptos"/>
              </a:rPr>
              <a:t>Punto cuyo vecindario contiene al menos MinPts.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383280"/>
            <a:ext cx="859536" cy="274320"/>
          </a:xfrm>
          <a:prstGeom prst="roundRect">
            <a:avLst/>
          </a:prstGeom>
          <a:solidFill>
            <a:srgbClr val="FB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l"/>
            <a:r>
              <a:rPr sz="919" b="1" i="0">
                <a:solidFill>
                  <a:srgbClr val="B48846"/>
                </a:solidFill>
                <a:latin typeface="Aptos"/>
              </a:rPr>
              <a:t>Border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3364992"/>
            <a:ext cx="2542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1D2730"/>
                </a:solidFill>
                <a:latin typeface="Aptos"/>
              </a:rPr>
              <a:t>Punto cercano a un core, pero sin densidad propia suficiente.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3858768"/>
            <a:ext cx="804672" cy="274320"/>
          </a:xfrm>
          <a:prstGeom prst="roundRect">
            <a:avLst/>
          </a:prstGeom>
          <a:solidFill>
            <a:srgbClr val="F9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l"/>
            <a:r>
              <a:rPr sz="919" b="1" i="0">
                <a:solidFill>
                  <a:srgbClr val="C7684A"/>
                </a:solidFill>
                <a:latin typeface="Aptos"/>
              </a:rPr>
              <a:t>Noise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3840480"/>
            <a:ext cx="25786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1D2730"/>
                </a:solidFill>
                <a:latin typeface="Aptos"/>
              </a:rPr>
              <a:t>Observacion que no queda conectada a ningun cluster denso.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608576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1263C"/>
                </a:solidFill>
                <a:latin typeface="Aptos"/>
              </a:rPr>
              <a:t>N_eps(p) = { q in D : dist(p, q) &lt;= eps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4608576"/>
            <a:ext cx="237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727F"/>
                </a:solidFill>
                <a:latin typeface="Aptos"/>
              </a:rPr>
              <a:t>(1)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13248" y="1499616"/>
            <a:ext cx="6199632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171907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1263C"/>
                </a:solidFill>
                <a:latin typeface="Aptos Display"/>
              </a:rPr>
              <a:t>Secuencia del algoritmo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87568" y="2103120"/>
            <a:ext cx="475488" cy="274320"/>
          </a:xfrm>
          <a:prstGeom prst="roundRect">
            <a:avLst/>
          </a:prstGeom>
          <a:solidFill>
            <a:srgbClr val="11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l"/>
            <a:r>
              <a:rPr sz="919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103120"/>
            <a:ext cx="44988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1D2730"/>
                </a:solidFill>
                <a:latin typeface="Aptos"/>
              </a:rPr>
              <a:t>Seleccionar un punto no visitado.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87568" y="2468879"/>
            <a:ext cx="475488" cy="274320"/>
          </a:xfrm>
          <a:prstGeom prst="roundRect">
            <a:avLst/>
          </a:prstGeom>
          <a:solidFill>
            <a:srgbClr val="11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l"/>
            <a:r>
              <a:rPr sz="919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2468879"/>
            <a:ext cx="44988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1D2730"/>
                </a:solidFill>
                <a:latin typeface="Aptos"/>
              </a:rPr>
              <a:t>Contar su vecindad eps.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87568" y="2834639"/>
            <a:ext cx="475488" cy="274320"/>
          </a:xfrm>
          <a:prstGeom prst="roundRect">
            <a:avLst/>
          </a:prstGeom>
          <a:solidFill>
            <a:srgbClr val="11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l"/>
            <a:r>
              <a:rPr sz="919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2784" y="2834639"/>
            <a:ext cx="44988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1D2730"/>
                </a:solidFill>
                <a:latin typeface="Aptos"/>
              </a:rPr>
              <a:t>Si cumple MinPts, iniciar o expandir un cluster.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87568" y="3200400"/>
            <a:ext cx="475488" cy="274320"/>
          </a:xfrm>
          <a:prstGeom prst="roundRect">
            <a:avLst/>
          </a:prstGeom>
          <a:solidFill>
            <a:srgbClr val="11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l"/>
            <a:r>
              <a:rPr sz="919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3200400"/>
            <a:ext cx="44988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1D2730"/>
                </a:solidFill>
                <a:latin typeface="Aptos"/>
              </a:rPr>
              <a:t>Si no cumple, marcarlo como ruido provisional.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13248" y="4005072"/>
            <a:ext cx="6199632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ig03_dbscan_concep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187952"/>
            <a:ext cx="2060745" cy="153619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50992" y="5687568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 i="1">
                <a:solidFill>
                  <a:srgbClr val="66727F"/>
                </a:solidFill>
                <a:latin typeface="Aptos"/>
              </a:rPr>
              <a:t>Fig. 2. Punto core, borde y ruido dentro de una vecindad eps. Elaboracion propia.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10896"/>
            <a:ext cx="1417320" cy="274320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l"/>
            <a:r>
              <a:rPr sz="919" b="1" i="0">
                <a:solidFill>
                  <a:srgbClr val="11263C"/>
                </a:solidFill>
                <a:latin typeface="Aptos"/>
              </a:rPr>
              <a:t>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1263C"/>
                </a:solidFill>
                <a:latin typeface="Aptos Display"/>
              </a:rPr>
              <a:t>Ejemplo demostrativo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7406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727F"/>
                </a:solidFill>
                <a:latin typeface="Aptos"/>
              </a:rPr>
              <a:t>DBSCAN identifica dos zonas densas y deja fuera observaciones aisladas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6727F"/>
                </a:solidFill>
                <a:latin typeface="Aptos"/>
              </a:rPr>
              <a:t>INFO1184  |  Disertacion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38251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6727F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6675120" cy="4517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02_dbscan_resul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755648"/>
            <a:ext cx="5390102" cy="3529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9264" y="5449824"/>
            <a:ext cx="59070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 i="1">
                <a:solidFill>
                  <a:srgbClr val="66727F"/>
                </a:solidFill>
                <a:latin typeface="Aptos"/>
              </a:rPr>
              <a:t>Fig. 3. Resultado de DBSCAN en un conjunto sintetico con forma curva, cluster compacto y ruido. Elaboracion propia.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1504" y="1481328"/>
            <a:ext cx="4151376" cy="1225296"/>
          </a:xfrm>
          <a:prstGeom prst="roundRect">
            <a:avLst/>
          </a:prstGeom>
          <a:solidFill>
            <a:srgbClr val="11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35824" y="1755648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EF6F4"/>
                </a:solidFill>
                <a:latin typeface="Aptos"/>
              </a:rPr>
              <a:t>Parametros usados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5824" y="1975104"/>
            <a:ext cx="2907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Display"/>
              </a:rPr>
              <a:t>eps = 0.38  |  MinPts =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61504" y="2944368"/>
            <a:ext cx="4151376" cy="566928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309067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967A5"/>
                </a:solidFill>
                <a:latin typeface="Aptos"/>
              </a:rPr>
              <a:t>Clusters detectados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3808" y="3063240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11263C"/>
                </a:solidFill>
                <a:latin typeface="Aptos Display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1504" y="3694176"/>
            <a:ext cx="4151376" cy="566928"/>
          </a:xfrm>
          <a:prstGeom prst="roundRect">
            <a:avLst/>
          </a:prstGeom>
          <a:solidFill>
            <a:srgbClr val="EEF6F4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384048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F7E67"/>
                </a:solidFill>
                <a:latin typeface="Aptos"/>
              </a:rPr>
              <a:t>Ruido detectado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3808" y="3813048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11263C"/>
                </a:solidFill>
                <a:latin typeface="Aptos Display"/>
              </a:rPr>
              <a:t>13 puntos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61504" y="4443984"/>
            <a:ext cx="4151376" cy="566928"/>
          </a:xfrm>
          <a:prstGeom prst="roundRect">
            <a:avLst/>
          </a:prstGeom>
          <a:solidFill>
            <a:srgbClr val="FBF3E7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459028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48846"/>
                </a:solidFill>
                <a:latin typeface="Aptos"/>
              </a:rPr>
              <a:t>Porcentaje ruido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3808" y="4562856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11263C"/>
                </a:solidFill>
                <a:latin typeface="Aptos Display"/>
              </a:rPr>
              <a:t>9.8%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61504" y="5303520"/>
            <a:ext cx="4151376" cy="676656"/>
          </a:xfrm>
          <a:prstGeom prst="roundRect">
            <a:avLst/>
          </a:prstGeom>
          <a:solidFill>
            <a:srgbClr val="F9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5486400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7684A"/>
                </a:solidFill>
                <a:latin typeface="Aptos"/>
              </a:rPr>
              <a:t>Interpretacion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5468112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2730"/>
                </a:solidFill>
                <a:latin typeface="Aptos"/>
              </a:rPr>
              <a:t>La ventaja principal es que la forma curva se mantiene como un solo cluster sin obligarlo a ser esferico.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10896"/>
            <a:ext cx="1417320" cy="274320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l"/>
            <a:r>
              <a:rPr sz="919" b="1" i="0">
                <a:solidFill>
                  <a:srgbClr val="11263C"/>
                </a:solidFill>
                <a:latin typeface="Aptos"/>
              </a:rPr>
              <a:t>Aplicaciones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1263C"/>
                </a:solidFill>
                <a:latin typeface="Aptos Display"/>
              </a:rPr>
              <a:t>Donde se usa DBSCAN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7406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727F"/>
                </a:solidFill>
                <a:latin typeface="Aptos"/>
              </a:rPr>
              <a:t>El metodo es util cuando la densidad revela patrones mas valiosos que un centroide promedio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6727F"/>
                </a:solidFill>
                <a:latin typeface="Aptos"/>
              </a:rPr>
              <a:t>INFO1184  |  Disertacion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38251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6727F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00784"/>
            <a:ext cx="2999232" cy="4151376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1263C"/>
                </a:solidFill>
                <a:latin typeface="Aptos Display"/>
              </a:rPr>
              <a:t>Analitica geoespacial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14016"/>
            <a:ext cx="256032" cy="256032"/>
          </a:xfrm>
          <a:prstGeom prst="ellipse">
            <a:avLst/>
          </a:prstGeom>
          <a:solidFill>
            <a:srgbClr val="29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432304"/>
            <a:ext cx="104241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2967A5"/>
                </a:solidFill>
                <a:latin typeface="Aptos"/>
              </a:rPr>
              <a:t>Caso de 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98064"/>
            <a:ext cx="248716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D2730"/>
                </a:solidFill>
                <a:latin typeface="Aptos"/>
              </a:rPr>
              <a:t>Detecta zonas densas de accidentes, delitos, demanda de reparto o flujo de clientes.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22191"/>
            <a:ext cx="24871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023360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2967A5"/>
                </a:solidFill>
                <a:latin typeface="Aptos"/>
              </a:rPr>
              <a:t>Por que DBSCAN encaja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261104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1D2730"/>
                </a:solidFill>
                <a:latin typeface="Aptos"/>
              </a:rPr>
              <a:t>Funciona bien porque encuentra hotspots con forma irregular y separa eventos aislados.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700784"/>
            <a:ext cx="2999232" cy="4151376"/>
          </a:xfrm>
          <a:prstGeom prst="roundRect">
            <a:avLst/>
          </a:prstGeom>
          <a:solidFill>
            <a:srgbClr val="EEF6F4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201168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1263C"/>
                </a:solidFill>
                <a:latin typeface="Aptos Display"/>
              </a:rPr>
              <a:t>Fraude y anomalias</a:t>
            </a:r>
          </a:p>
        </p:txBody>
      </p:sp>
      <p:sp>
        <p:nvSpPr>
          <p:cNvPr id="18" name="Oval 17"/>
          <p:cNvSpPr/>
          <p:nvPr/>
        </p:nvSpPr>
        <p:spPr>
          <a:xfrm>
            <a:off x="4389119" y="2414016"/>
            <a:ext cx="256032" cy="256032"/>
          </a:xfrm>
          <a:prstGeom prst="ellipse">
            <a:avLst/>
          </a:prstGeom>
          <a:solidFill>
            <a:srgbClr val="2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2432304"/>
            <a:ext cx="104241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2F7E67"/>
                </a:solidFill>
                <a:latin typeface="Aptos"/>
              </a:rPr>
              <a:t>Caso de uso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2798064"/>
            <a:ext cx="248716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D2730"/>
                </a:solidFill>
                <a:latin typeface="Aptos"/>
              </a:rPr>
              <a:t>Separa patrones normales de transacciones y deja como ruido operaciones atipicas.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19" y="3822191"/>
            <a:ext cx="24871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35423" y="4023360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2F7E67"/>
                </a:solidFill>
                <a:latin typeface="Aptos"/>
              </a:rPr>
              <a:t>Por que DBSCAN encaja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3" y="4261104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1D2730"/>
                </a:solidFill>
                <a:latin typeface="Aptos"/>
              </a:rPr>
              <a:t>Aporta valor porque el outlier no es un error: muchas veces es justamente el caso que interesa investigar.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99248" y="1700784"/>
            <a:ext cx="2999232" cy="4151376"/>
          </a:xfrm>
          <a:prstGeom prst="roundRect">
            <a:avLst/>
          </a:prstGeom>
          <a:solidFill>
            <a:srgbClr val="FBF3E7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201168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1263C"/>
                </a:solidFill>
                <a:latin typeface="Aptos Display"/>
              </a:rPr>
              <a:t>Sensores y vision</a:t>
            </a:r>
          </a:p>
        </p:txBody>
      </p:sp>
      <p:sp>
        <p:nvSpPr>
          <p:cNvPr id="26" name="Oval 25"/>
          <p:cNvSpPr/>
          <p:nvPr/>
        </p:nvSpPr>
        <p:spPr>
          <a:xfrm>
            <a:off x="7955280" y="2414016"/>
            <a:ext cx="256032" cy="256032"/>
          </a:xfrm>
          <a:prstGeom prst="ellipse">
            <a:avLst/>
          </a:prstGeom>
          <a:solidFill>
            <a:srgbClr val="B48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432304"/>
            <a:ext cx="104241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B48846"/>
                </a:solidFill>
                <a:latin typeface="Aptos"/>
              </a:rPr>
              <a:t>Caso de uso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2798064"/>
            <a:ext cx="248716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D2730"/>
                </a:solidFill>
                <a:latin typeface="Aptos"/>
              </a:rPr>
              <a:t>Agrupa puntos en nubes LiDAR, seguimiento de objetos o deteccion de estructuras en imagenes.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3822191"/>
            <a:ext cx="24871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1584" y="4023360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1" i="0">
                <a:solidFill>
                  <a:srgbClr val="B48846"/>
                </a:solidFill>
                <a:latin typeface="Aptos"/>
              </a:rPr>
              <a:t>Por que DBSCAN encaja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1584" y="4261104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0" i="0">
                <a:solidFill>
                  <a:srgbClr val="1D2730"/>
                </a:solidFill>
                <a:latin typeface="Aptos"/>
              </a:rPr>
              <a:t>Es adecuado porque reconoce objetos conectados por densidad aun cuando sus bordes no sean convexos.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10896"/>
            <a:ext cx="1417320" cy="274320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l"/>
            <a:r>
              <a:rPr sz="919" b="1" i="0">
                <a:solidFill>
                  <a:srgbClr val="11263C"/>
                </a:solidFill>
                <a:latin typeface="Aptos"/>
              </a:rPr>
              <a:t>Evaluacion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1263C"/>
                </a:solidFill>
                <a:latin typeface="Aptos Display"/>
              </a:rPr>
              <a:t>Ventajas y limitaciones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7406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727F"/>
                </a:solidFill>
                <a:latin typeface="Aptos"/>
              </a:rPr>
              <a:t>Entender cuando usar DBSCAN es tan importante como saber ejecutarlo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6727F"/>
                </a:solidFill>
                <a:latin typeface="Aptos"/>
              </a:rPr>
              <a:t>INFO1184  |  Disertacion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38251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6727F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5376672" cy="4187952"/>
          </a:xfrm>
          <a:prstGeom prst="roundRect">
            <a:avLst/>
          </a:prstGeom>
          <a:solidFill>
            <a:srgbClr val="EEF6F4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82880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D6F73"/>
                </a:solidFill>
                <a:latin typeface="Aptos Display"/>
              </a:rPr>
              <a:t>Ventajas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249424"/>
            <a:ext cx="4553712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D2730"/>
                </a:solidFill>
                <a:latin typeface="Aptos"/>
              </a:rPr>
              <a:t>- No exige definir k antes de comenzar.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D2730"/>
                </a:solidFill>
                <a:latin typeface="Aptos"/>
              </a:rPr>
              <a:t>- Encuentra clusters con forma arbitraria.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D2730"/>
                </a:solidFill>
                <a:latin typeface="Aptos"/>
              </a:rPr>
              <a:t>- Identifica ruido y outliers de forma explicita.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D2730"/>
                </a:solidFill>
                <a:latin typeface="Aptos"/>
              </a:rPr>
              <a:t>- Suele ser interpretable en datos geograficos o espaciales.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572768"/>
            <a:ext cx="5376672" cy="4187952"/>
          </a:xfrm>
          <a:prstGeom prst="roundRect">
            <a:avLst/>
          </a:prstGeom>
          <a:solidFill>
            <a:srgbClr val="F9ECE7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8288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7684A"/>
                </a:solidFill>
                <a:latin typeface="Aptos Display"/>
              </a:rPr>
              <a:t>Limitaciones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249424"/>
            <a:ext cx="4553712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D2730"/>
                </a:solidFill>
                <a:latin typeface="Aptos"/>
              </a:rPr>
              <a:t>- Elegir eps y MinPts puede ser sensible al contexto.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D2730"/>
                </a:solidFill>
                <a:latin typeface="Aptos"/>
              </a:rPr>
              <a:t>- Con densidades muy distintas puede fragmentar o fusionar clusters.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D2730"/>
                </a:solidFill>
                <a:latin typeface="Aptos"/>
              </a:rPr>
              <a:t>- La escala de las variables afecta directamente la distancia.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1D2730"/>
                </a:solidFill>
                <a:latin typeface="Aptos"/>
              </a:rPr>
              <a:t>- En alta dimension la nocion de densidad pierde fuerza.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888736"/>
            <a:ext cx="11045952" cy="475488"/>
          </a:xfrm>
          <a:prstGeom prst="roundRect">
            <a:avLst/>
          </a:prstGeom>
          <a:solidFill>
            <a:srgbClr val="11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6016752"/>
            <a:ext cx="10442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1" i="0">
                <a:solidFill>
                  <a:srgbClr val="FFFFFF"/>
                </a:solidFill>
                <a:latin typeface="Aptos"/>
              </a:rPr>
              <a:t>Buena practica: escalar variables, probar varios valores de eps y validar el resultado con conocimiento del dominio.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10896"/>
            <a:ext cx="1417320" cy="274320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l"/>
            <a:r>
              <a:rPr sz="919" b="1" i="0">
                <a:solidFill>
                  <a:srgbClr val="11263C"/>
                </a:solidFill>
                <a:latin typeface="Aptos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1263C"/>
                </a:solidFill>
                <a:latin typeface="Aptos Display"/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7406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727F"/>
                </a:solidFill>
                <a:latin typeface="Aptos"/>
              </a:rPr>
              <a:t>DBSCAN es fuerte cuando el ruido y la forma real de los datos no pueden simplificarse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6727F"/>
                </a:solidFill>
                <a:latin typeface="Aptos"/>
              </a:rPr>
              <a:t>INFO1184  |  Disertacion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38251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6727F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91056"/>
            <a:ext cx="11045952" cy="1316736"/>
          </a:xfrm>
          <a:prstGeom prst="roundRect">
            <a:avLst/>
          </a:prstGeom>
          <a:solidFill>
            <a:srgbClr val="11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EF6F4"/>
                </a:solidFill>
                <a:latin typeface="Aptos"/>
              </a:rPr>
              <a:t>Conclusion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84831"/>
            <a:ext cx="985723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 Display"/>
              </a:rPr>
              <a:t>En dashboards de Inteligencia de Negocios, DBSCAN ayuda a revelar zonas densas, patrones y anomalias que no siempre son evidentes. Esto permite detectar oportunidades, anticipar riesgos y enfocar decisiones sobre los comportamientos que realmente importan.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54096"/>
            <a:ext cx="3584448" cy="2523744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32841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967A5"/>
                </a:solidFill>
                <a:latin typeface="Aptos Display"/>
              </a:rPr>
              <a:t>Cuando conviene usarlo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749039"/>
            <a:ext cx="2066543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60" b="0" i="0">
                <a:solidFill>
                  <a:srgbClr val="1D2730"/>
                </a:solidFill>
                <a:latin typeface="Aptos"/>
              </a:rPr>
              <a:t>Cuando existen outliers, clusters no esfericos o el numero de grupos aun no es conocido.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054096"/>
            <a:ext cx="3584448" cy="2523744"/>
          </a:xfrm>
          <a:prstGeom prst="roundRect">
            <a:avLst/>
          </a:prstGeom>
          <a:solidFill>
            <a:srgbClr val="FBF3E7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332841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48846"/>
                </a:solidFill>
                <a:latin typeface="Aptos Display"/>
              </a:rPr>
              <a:t>Que debemos cuidar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749039"/>
            <a:ext cx="2066543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60" b="0" i="0">
                <a:solidFill>
                  <a:srgbClr val="1D2730"/>
                </a:solidFill>
                <a:latin typeface="Aptos"/>
              </a:rPr>
              <a:t>La seleccion de eps, el escalamiento de variables y la presencia de densidades muy desiguales.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3054096"/>
            <a:ext cx="3584448" cy="2523744"/>
          </a:xfrm>
          <a:prstGeom prst="roundRect">
            <a:avLst/>
          </a:prstGeom>
          <a:solidFill>
            <a:srgbClr val="EEF6F4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7" y="332841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F7E67"/>
                </a:solidFill>
                <a:latin typeface="Aptos Display"/>
              </a:rPr>
              <a:t>Mensaje 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7" y="3749039"/>
            <a:ext cx="2066543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60" b="0" i="0">
                <a:solidFill>
                  <a:srgbClr val="1D2730"/>
                </a:solidFill>
                <a:latin typeface="Aptos"/>
              </a:rPr>
              <a:t>No todos los problemas de agrupamiento se resuelven con centroides; a veces la densidad es la verdadera estructura.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108192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6727F"/>
                </a:solidFill>
                <a:latin typeface="Aptos"/>
              </a:rPr>
              <a:t>Integrantes: Juan Munoz, Vicente Rivera y Fernando Valdes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1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310896"/>
            <a:ext cx="1417320" cy="274320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36576" bIns="36576"/>
          <a:lstStyle/>
          <a:p>
            <a:pPr algn="l"/>
            <a:r>
              <a:rPr sz="919" b="1" i="0">
                <a:solidFill>
                  <a:srgbClr val="11263C"/>
                </a:solidFill>
                <a:latin typeface="Aptos"/>
              </a:rPr>
              <a:t>Fuentes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1263C"/>
                </a:solidFill>
                <a:latin typeface="Aptos Display"/>
              </a:rPr>
              <a:t>Bibliografia de apoyo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7406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727F"/>
                </a:solidFill>
                <a:latin typeface="Aptos"/>
              </a:rPr>
              <a:t>Referencias base para la definicion, discusion y ejemplo del metodo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6727F"/>
                </a:solidFill>
                <a:latin typeface="Aptos"/>
              </a:rPr>
              <a:t>INFO1184  |  Disertacion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5408" y="638251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6727F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11045952" cy="4535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38528"/>
            <a:ext cx="1014984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40" b="0" i="0">
                <a:solidFill>
                  <a:srgbClr val="1D2730"/>
                </a:solidFill>
                <a:latin typeface="Aptos"/>
              </a:rPr>
              <a:t>- Ester, M., Kriegel, H.-P., Sander, J., &amp; Xu, X. (1996). A density-based algorithm for discovering clusters in large spatial databases with noise. Proceedings of KDD-96, 226-231.</a:t>
            </a:r>
          </a:p>
          <a:p>
            <a:pPr algn="l">
              <a:spcAft>
                <a:spcPts val="1000"/>
              </a:spcAft>
            </a:pPr>
            <a:r>
              <a:rPr sz="1140" b="0" i="0">
                <a:solidFill>
                  <a:srgbClr val="1D2730"/>
                </a:solidFill>
                <a:latin typeface="Aptos"/>
              </a:rPr>
              <a:t>- Han, J., Kamber, M., &amp; Pei, J. (2012). Data Mining: Concepts and Techniques (3rd ed.). Morgan Kaufmann.</a:t>
            </a:r>
          </a:p>
          <a:p>
            <a:pPr algn="l">
              <a:spcAft>
                <a:spcPts val="1000"/>
              </a:spcAft>
            </a:pPr>
            <a:r>
              <a:rPr sz="1140" b="0" i="0">
                <a:solidFill>
                  <a:srgbClr val="1D2730"/>
                </a:solidFill>
                <a:latin typeface="Aptos"/>
              </a:rPr>
              <a:t>- Schubert, E., Sander, J., Ester, M., Kriegel, H.-P., &amp; Xu, X. (2017). DBSCAN revisited, revisited: Why and how you should still use DBSCAN. ACM Transactions on Database Systems, 42(3), 1-21.</a:t>
            </a:r>
          </a:p>
          <a:p>
            <a:pPr algn="l">
              <a:spcAft>
                <a:spcPts val="1000"/>
              </a:spcAft>
            </a:pPr>
            <a:r>
              <a:rPr sz="1140" b="0" i="0">
                <a:solidFill>
                  <a:srgbClr val="1D2730"/>
                </a:solidFill>
                <a:latin typeface="Aptos"/>
              </a:rPr>
              <a:t>- Presentacion elaborada segun la pauta general y rubrica de disertaciones del curso INFO1184, Semestre I-2026.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" y="5468112"/>
            <a:ext cx="9802368" cy="365760"/>
          </a:xfrm>
          <a:prstGeom prst="roundRect">
            <a:avLst/>
          </a:prstGeom>
          <a:solidFill>
            <a:srgbClr val="F2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5577840"/>
            <a:ext cx="9308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6727F"/>
                </a:solidFill>
                <a:latin typeface="Aptos"/>
              </a:rPr>
              <a:t>Las figuras incluidas en la presentacion son de elaboracion propia.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