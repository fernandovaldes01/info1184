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es-CL">
        <a:latin typeface="Aptos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8368" y="56692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DISERTACION 04</a:t>
            </a:r>
            <a:endParaRPr lang="es-CL" sz="1050"/>
          </a:p>
        </p:txBody>
      </p:sp>
      <p:sp>
        <p:nvSpPr>
          <p:cNvPr id="5" name="Text 5"/>
          <p:cNvSpPr txBox="1"/>
          <p:nvPr/>
        </p:nvSpPr>
        <p:spPr>
          <a:xfrm>
            <a:off x="658368" y="1005840"/>
            <a:ext cx="694944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37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Analisis de Componentes Principales</a:t>
            </a:r>
            <a:endParaRPr lang="es-CL" sz="3700"/>
          </a:p>
          <a:p>
            <a:pPr algn="l">
              <a:spcAft>
                <a:spcPts val="400"/>
              </a:spcAft>
            </a:pPr>
            <a:r>
              <a:rPr lang="es-CL" sz="37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Dataset Boston</a:t>
            </a:r>
            <a:endParaRPr lang="es-CL" sz="3700"/>
          </a:p>
        </p:txBody>
      </p:sp>
      <p:sp>
        <p:nvSpPr>
          <p:cNvPr id="6" name="Text 6"/>
          <p:cNvSpPr txBox="1"/>
          <p:nvPr/>
        </p:nvSpPr>
        <p:spPr>
          <a:xfrm>
            <a:off x="694944" y="2395728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500">
                <a:solidFill>
                  <a:srgbClr val="1E2730"/>
                </a:solidFill>
                <a:latin typeface="Aptos"/>
                <a:ea typeface="Aptos"/>
                <a:cs typeface="Aptos"/>
              </a:rPr>
              <a:t>Resolucion TA04 con metodologia CRISP-DM: precio de viviendas, entorno urbano y criminalidad.</a:t>
            </a:r>
            <a:endParaRPr lang="es-CL" sz="1500"/>
          </a:p>
        </p:txBody>
      </p:sp>
      <p:sp>
        <p:nvSpPr>
          <p:cNvPr id="7" name="Text 7"/>
          <p:cNvSpPr txBox="1"/>
          <p:nvPr/>
        </p:nvSpPr>
        <p:spPr>
          <a:xfrm>
            <a:off x="694944" y="5230368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130">
                <a:solidFill>
                  <a:srgbClr val="65727F"/>
                </a:solidFill>
                <a:latin typeface="Aptos"/>
                <a:ea typeface="Aptos"/>
                <a:cs typeface="Aptos"/>
              </a:rPr>
              <a:t>INFO1184 Inteligencia de Negocios</a:t>
            </a:r>
            <a:endParaRPr lang="es-CL" sz="1130"/>
          </a:p>
          <a:p>
            <a:pPr algn="l">
              <a:spcAft>
                <a:spcPts val="400"/>
              </a:spcAft>
            </a:pPr>
            <a:r>
              <a:rPr lang="es-CL" sz="1130">
                <a:solidFill>
                  <a:srgbClr val="65727F"/>
                </a:solidFill>
                <a:latin typeface="Aptos"/>
                <a:ea typeface="Aptos"/>
                <a:cs typeface="Aptos"/>
              </a:rPr>
              <a:t>Semestre I-2026</a:t>
            </a:r>
            <a:endParaRPr lang="es-CL" sz="1130"/>
          </a:p>
          <a:p>
            <a:pPr algn="l">
              <a:spcAft>
                <a:spcPts val="400"/>
              </a:spcAft>
            </a:pPr>
            <a:r>
              <a:rPr lang="es-CL" sz="1130">
                <a:solidFill>
                  <a:srgbClr val="65727F"/>
                </a:solidFill>
                <a:latin typeface="Aptos"/>
                <a:ea typeface="Aptos"/>
                <a:cs typeface="Aptos"/>
              </a:rPr>
              <a:t>Vicente Rivera | Juan Munoz | Fernando Valdes</a:t>
            </a:r>
            <a:endParaRPr lang="es-CL" sz="1130"/>
          </a:p>
        </p:txBody>
      </p:sp>
      <p:sp>
        <p:nvSpPr>
          <p:cNvPr id="8" name="Text 8"/>
          <p:cNvSpPr txBox="1"/>
          <p:nvPr/>
        </p:nvSpPr>
        <p:spPr>
          <a:xfrm>
            <a:off x="8028432" y="987552"/>
            <a:ext cx="3108960" cy="841248"/>
          </a:xfrm>
          <a:prstGeom prst="roundRect">
            <a:avLst/>
          </a:prstGeom>
          <a:solidFill>
            <a:srgbClr val="EAF3F1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9" name="Shape 9"/>
          <p:cNvSpPr/>
          <p:nvPr/>
        </p:nvSpPr>
        <p:spPr>
          <a:xfrm>
            <a:off x="8028432" y="987552"/>
            <a:ext cx="73152" cy="841248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229600" y="1115568"/>
            <a:ext cx="281635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DATOS</a:t>
            </a:r>
            <a:endParaRPr lang="es-CL" sz="820"/>
          </a:p>
        </p:txBody>
      </p:sp>
      <p:sp>
        <p:nvSpPr>
          <p:cNvPr id="11" name="Text 11"/>
          <p:cNvSpPr txBox="1"/>
          <p:nvPr/>
        </p:nvSpPr>
        <p:spPr>
          <a:xfrm>
            <a:off x="8229600" y="1335024"/>
            <a:ext cx="281635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506 x 14</a:t>
            </a:r>
            <a:endParaRPr lang="es-CL" sz="1800"/>
          </a:p>
        </p:txBody>
      </p:sp>
      <p:sp>
        <p:nvSpPr>
          <p:cNvPr id="12" name="Text 12"/>
          <p:cNvSpPr txBox="1"/>
          <p:nvPr/>
        </p:nvSpPr>
        <p:spPr>
          <a:xfrm>
            <a:off x="8028432" y="2057400"/>
            <a:ext cx="3108960" cy="841248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8028432" y="2057400"/>
            <a:ext cx="73152" cy="841248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229600" y="2185416"/>
            <a:ext cx="281635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PCA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8229600" y="2404872"/>
            <a:ext cx="281635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5 CP = 80,58%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028432" y="3127248"/>
            <a:ext cx="3108960" cy="841248"/>
          </a:xfrm>
          <a:prstGeom prst="roundRect">
            <a:avLst/>
          </a:prstGeom>
          <a:solidFill>
            <a:srgbClr val="FAF1E7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028432" y="3127248"/>
            <a:ext cx="73152" cy="841248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29600" y="3255264"/>
            <a:ext cx="281635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PREDICCION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229600" y="3474720"/>
            <a:ext cx="281635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R2 log = 0,8119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8028432" y="4197096"/>
            <a:ext cx="3108960" cy="841248"/>
          </a:xfrm>
          <a:prstGeom prst="roundRect">
            <a:avLst/>
          </a:prstGeom>
          <a:solidFill>
            <a:srgbClr val="F7EDEA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8028432" y="4197096"/>
            <a:ext cx="73152" cy="841248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229600" y="4325112"/>
            <a:ext cx="281635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CALIDAD</a:t>
            </a:r>
            <a:endParaRPr lang="es-CL" sz="820"/>
          </a:p>
        </p:txBody>
      </p:sp>
      <p:sp>
        <p:nvSpPr>
          <p:cNvPr id="23" name="Text 23"/>
          <p:cNvSpPr txBox="1"/>
          <p:nvPr/>
        </p:nvSpPr>
        <p:spPr>
          <a:xfrm>
            <a:off x="8229600" y="4544568"/>
            <a:ext cx="281635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0 faltantes</a:t>
            </a:r>
            <a:endParaRPr lang="es-CL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RUTA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Temario de la disertacion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02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572768"/>
            <a:ext cx="932688" cy="93268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lang="es-CL" sz="2200"/>
          </a:p>
        </p:txBody>
      </p:sp>
      <p:sp>
        <p:nvSpPr>
          <p:cNvPr id="10" name="Text 10"/>
          <p:cNvSpPr txBox="1"/>
          <p:nvPr/>
        </p:nvSpPr>
        <p:spPr>
          <a:xfrm>
            <a:off x="420624" y="27706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Contexto y problema</a:t>
            </a:r>
            <a:endParaRPr lang="es-CL" sz="1300"/>
          </a:p>
        </p:txBody>
      </p:sp>
      <p:sp>
        <p:nvSpPr>
          <p:cNvPr id="11" name="Text 11"/>
          <p:cNvSpPr txBox="1"/>
          <p:nvPr/>
        </p:nvSpPr>
        <p:spPr>
          <a:xfrm>
            <a:off x="365760" y="318211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27F"/>
                </a:solidFill>
                <a:latin typeface="Aptos"/>
                <a:ea typeface="Aptos"/>
                <a:cs typeface="Aptos"/>
              </a:rPr>
              <a:t>Preguntas del caso Boston.</a:t>
            </a:r>
            <a:endParaRPr lang="es-CL" sz="1050"/>
          </a:p>
        </p:txBody>
      </p:sp>
      <p:sp>
        <p:nvSpPr>
          <p:cNvPr id="12" name="Shape 12"/>
          <p:cNvSpPr/>
          <p:nvPr/>
        </p:nvSpPr>
        <p:spPr>
          <a:xfrm>
            <a:off x="1746504" y="2029968"/>
            <a:ext cx="1097280" cy="36576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2953512" y="1572768"/>
            <a:ext cx="932688" cy="93268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lang="es-CL" sz="2200"/>
          </a:p>
        </p:txBody>
      </p:sp>
      <p:sp>
        <p:nvSpPr>
          <p:cNvPr id="14" name="Text 14"/>
          <p:cNvSpPr txBox="1"/>
          <p:nvPr/>
        </p:nvSpPr>
        <p:spPr>
          <a:xfrm>
            <a:off x="2660904" y="27706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Metodo</a:t>
            </a:r>
            <a:endParaRPr lang="es-CL" sz="1300"/>
          </a:p>
        </p:txBody>
      </p:sp>
      <p:sp>
        <p:nvSpPr>
          <p:cNvPr id="15" name="Text 15"/>
          <p:cNvSpPr txBox="1"/>
          <p:nvPr/>
        </p:nvSpPr>
        <p:spPr>
          <a:xfrm>
            <a:off x="2606040" y="318211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27F"/>
                </a:solidFill>
                <a:latin typeface="Aptos"/>
                <a:ea typeface="Aptos"/>
                <a:cs typeface="Aptos"/>
              </a:rPr>
              <a:t>CRISP-DM y PCA estandarizado.</a:t>
            </a:r>
            <a:endParaRPr lang="es-CL" sz="1050"/>
          </a:p>
        </p:txBody>
      </p:sp>
      <p:sp>
        <p:nvSpPr>
          <p:cNvPr id="16" name="Shape 16"/>
          <p:cNvSpPr/>
          <p:nvPr/>
        </p:nvSpPr>
        <p:spPr>
          <a:xfrm>
            <a:off x="3986784" y="2029968"/>
            <a:ext cx="1097280" cy="36576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193792" y="1572768"/>
            <a:ext cx="932688" cy="93268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lang="es-CL" sz="2200"/>
          </a:p>
        </p:txBody>
      </p:sp>
      <p:sp>
        <p:nvSpPr>
          <p:cNvPr id="18" name="Text 18"/>
          <p:cNvSpPr txBox="1"/>
          <p:nvPr/>
        </p:nvSpPr>
        <p:spPr>
          <a:xfrm>
            <a:off x="4901184" y="27706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Evidencia</a:t>
            </a:r>
            <a:endParaRPr lang="es-CL" sz="1300"/>
          </a:p>
        </p:txBody>
      </p:sp>
      <p:sp>
        <p:nvSpPr>
          <p:cNvPr id="19" name="Text 19"/>
          <p:cNvSpPr txBox="1"/>
          <p:nvPr/>
        </p:nvSpPr>
        <p:spPr>
          <a:xfrm>
            <a:off x="4846320" y="318211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27F"/>
                </a:solidFill>
                <a:latin typeface="Aptos"/>
                <a:ea typeface="Aptos"/>
                <a:cs typeface="Aptos"/>
              </a:rPr>
              <a:t>Exploracion, PCA y modelos.</a:t>
            </a:r>
            <a:endParaRPr lang="es-CL" sz="1050"/>
          </a:p>
        </p:txBody>
      </p:sp>
      <p:sp>
        <p:nvSpPr>
          <p:cNvPr id="20" name="Shape 20"/>
          <p:cNvSpPr/>
          <p:nvPr/>
        </p:nvSpPr>
        <p:spPr>
          <a:xfrm>
            <a:off x="6227064" y="2029968"/>
            <a:ext cx="1097280" cy="36576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434072" y="1572768"/>
            <a:ext cx="932688" cy="93268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lang="es-CL" sz="2200"/>
          </a:p>
        </p:txBody>
      </p:sp>
      <p:sp>
        <p:nvSpPr>
          <p:cNvPr id="22" name="Text 22"/>
          <p:cNvSpPr txBox="1"/>
          <p:nvPr/>
        </p:nvSpPr>
        <p:spPr>
          <a:xfrm>
            <a:off x="7141464" y="27706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Respuestas</a:t>
            </a:r>
            <a:endParaRPr lang="es-CL" sz="1300"/>
          </a:p>
        </p:txBody>
      </p:sp>
      <p:sp>
        <p:nvSpPr>
          <p:cNvPr id="23" name="Text 23"/>
          <p:cNvSpPr txBox="1"/>
          <p:nvPr/>
        </p:nvSpPr>
        <p:spPr>
          <a:xfrm>
            <a:off x="7086600" y="318211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27F"/>
                </a:solidFill>
                <a:latin typeface="Aptos"/>
                <a:ea typeface="Aptos"/>
                <a:cs typeface="Aptos"/>
              </a:rPr>
              <a:t>Resolucion de las seis preguntas.</a:t>
            </a:r>
            <a:endParaRPr lang="es-CL" sz="1050"/>
          </a:p>
        </p:txBody>
      </p:sp>
      <p:sp>
        <p:nvSpPr>
          <p:cNvPr id="24" name="Shape 24"/>
          <p:cNvSpPr/>
          <p:nvPr/>
        </p:nvSpPr>
        <p:spPr>
          <a:xfrm>
            <a:off x="8467344" y="2029968"/>
            <a:ext cx="1097280" cy="36576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674352" y="1572768"/>
            <a:ext cx="932688" cy="93268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lang="es-CL" sz="2200"/>
          </a:p>
        </p:txBody>
      </p:sp>
      <p:sp>
        <p:nvSpPr>
          <p:cNvPr id="26" name="Text 26"/>
          <p:cNvSpPr txBox="1"/>
          <p:nvPr/>
        </p:nvSpPr>
        <p:spPr>
          <a:xfrm>
            <a:off x="9381744" y="27706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Cierre</a:t>
            </a:r>
            <a:endParaRPr lang="es-CL" sz="1300"/>
          </a:p>
        </p:txBody>
      </p:sp>
      <p:sp>
        <p:nvSpPr>
          <p:cNvPr id="27" name="Text 27"/>
          <p:cNvSpPr txBox="1"/>
          <p:nvPr/>
        </p:nvSpPr>
        <p:spPr>
          <a:xfrm>
            <a:off x="9326880" y="318211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Discusion, limites y fuentes.</a:t>
            </a:r>
            <a:endParaRPr lang="es-CL" sz="1050"/>
          </a:p>
        </p:txBody>
      </p:sp>
      <p:sp>
        <p:nvSpPr>
          <p:cNvPr id="28" name="Text 28"/>
          <p:cNvSpPr txBox="1"/>
          <p:nvPr/>
        </p:nvSpPr>
        <p:spPr>
          <a:xfrm>
            <a:off x="1325880" y="4681728"/>
            <a:ext cx="955548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600">
                <a:solidFill>
                  <a:srgbClr val="1E2730"/>
                </a:solidFill>
                <a:latin typeface="Aptos"/>
                <a:ea typeface="Aptos"/>
                <a:cs typeface="Aptos"/>
              </a:rPr>
              <a:t>Objetivo: transformar los datos historicos de Boston en evidencia interpretable para explicar precios de vivienda y evaluar si la criminalidad puede estimarse con componentes principales.</a:t>
            </a:r>
            <a:endParaRPr lang="es-CL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PROBLEMA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Preguntas de investigacion TA04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03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658368" y="1481328"/>
            <a:ext cx="32735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658368" y="1481328"/>
            <a:ext cx="73152" cy="1234440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77824" y="1627632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P1  Valores atipicos</a:t>
            </a:r>
            <a:endParaRPr lang="es-CL" sz="1250"/>
          </a:p>
        </p:txBody>
      </p:sp>
      <p:sp>
        <p:nvSpPr>
          <p:cNvPr id="12" name="Text 12"/>
          <p:cNvSpPr txBox="1"/>
          <p:nvPr/>
        </p:nvSpPr>
        <p:spPr>
          <a:xfrm>
            <a:off x="877824" y="1956816"/>
            <a:ext cx="2944368" cy="6492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Detectar outliers en al menos dos variables.</a:t>
            </a:r>
            <a:endParaRPr lang="es-CL" sz="1040"/>
          </a:p>
        </p:txBody>
      </p:sp>
      <p:sp>
        <p:nvSpPr>
          <p:cNvPr id="13" name="Text 13"/>
          <p:cNvSpPr txBox="1"/>
          <p:nvPr/>
        </p:nvSpPr>
        <p:spPr>
          <a:xfrm>
            <a:off x="4425696" y="1481328"/>
            <a:ext cx="32735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4425696" y="1481328"/>
            <a:ext cx="73152" cy="1234440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45152" y="1627632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P2  Casas mas baratas</a:t>
            </a:r>
            <a:endParaRPr lang="es-CL" sz="1250"/>
          </a:p>
        </p:txBody>
      </p:sp>
      <p:sp>
        <p:nvSpPr>
          <p:cNvPr id="16" name="Text 16"/>
          <p:cNvSpPr txBox="1"/>
          <p:nvPr/>
        </p:nvSpPr>
        <p:spPr>
          <a:xfrm>
            <a:off x="4645152" y="1956816"/>
            <a:ext cx="2944368" cy="6492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Identificar observaciones con menor MEDV.</a:t>
            </a:r>
            <a:endParaRPr lang="es-CL" sz="1040"/>
          </a:p>
        </p:txBody>
      </p:sp>
      <p:sp>
        <p:nvSpPr>
          <p:cNvPr id="17" name="Text 17"/>
          <p:cNvSpPr txBox="1"/>
          <p:nvPr/>
        </p:nvSpPr>
        <p:spPr>
          <a:xfrm>
            <a:off x="8193024" y="1481328"/>
            <a:ext cx="32735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8193024" y="1481328"/>
            <a:ext cx="73152" cy="1234440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412480" y="1627632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P3  Tamano y precio</a:t>
            </a:r>
            <a:endParaRPr lang="es-CL" sz="1250"/>
          </a:p>
        </p:txBody>
      </p:sp>
      <p:sp>
        <p:nvSpPr>
          <p:cNvPr id="20" name="Text 20"/>
          <p:cNvSpPr txBox="1"/>
          <p:nvPr/>
        </p:nvSpPr>
        <p:spPr>
          <a:xfrm>
            <a:off x="8412480" y="1956816"/>
            <a:ext cx="2944368" cy="6492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Medir relacion entre habitaciones y valor.</a:t>
            </a:r>
            <a:endParaRPr lang="es-CL" sz="1040"/>
          </a:p>
        </p:txBody>
      </p:sp>
      <p:sp>
        <p:nvSpPr>
          <p:cNvPr id="21" name="Text 21"/>
          <p:cNvSpPr txBox="1"/>
          <p:nvPr/>
        </p:nvSpPr>
        <p:spPr>
          <a:xfrm>
            <a:off x="658368" y="3182112"/>
            <a:ext cx="32735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2" name="Shape 22"/>
          <p:cNvSpPr/>
          <p:nvPr/>
        </p:nvSpPr>
        <p:spPr>
          <a:xfrm>
            <a:off x="658368" y="3182112"/>
            <a:ext cx="73152" cy="1234440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77824" y="3328416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P4  Rio Charles</a:t>
            </a:r>
            <a:endParaRPr lang="es-CL" sz="1250"/>
          </a:p>
        </p:txBody>
      </p:sp>
      <p:sp>
        <p:nvSpPr>
          <p:cNvPr id="24" name="Text 24"/>
          <p:cNvSpPr txBox="1"/>
          <p:nvPr/>
        </p:nvSpPr>
        <p:spPr>
          <a:xfrm>
            <a:off x="877824" y="3657600"/>
            <a:ext cx="2944368" cy="6492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Evaluar efecto de CHAS sobre MEDV.</a:t>
            </a:r>
            <a:endParaRPr lang="es-CL" sz="1040"/>
          </a:p>
        </p:txBody>
      </p:sp>
      <p:sp>
        <p:nvSpPr>
          <p:cNvPr id="25" name="Text 25"/>
          <p:cNvSpPr txBox="1"/>
          <p:nvPr/>
        </p:nvSpPr>
        <p:spPr>
          <a:xfrm>
            <a:off x="4425696" y="3182112"/>
            <a:ext cx="32735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6" name="Shape 26"/>
          <p:cNvSpPr/>
          <p:nvPr/>
        </p:nvSpPr>
        <p:spPr>
          <a:xfrm>
            <a:off x="4425696" y="3182112"/>
            <a:ext cx="73152" cy="1234440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4645152" y="3328416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P5  Estatus</a:t>
            </a:r>
            <a:endParaRPr lang="es-CL" sz="1250"/>
          </a:p>
        </p:txBody>
      </p:sp>
      <p:sp>
        <p:nvSpPr>
          <p:cNvPr id="28" name="Text 28"/>
          <p:cNvSpPr txBox="1"/>
          <p:nvPr/>
        </p:nvSpPr>
        <p:spPr>
          <a:xfrm>
            <a:off x="4645152" y="3657600"/>
            <a:ext cx="2944368" cy="6492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Cuantificar impacto de LSTAT.</a:t>
            </a:r>
            <a:endParaRPr lang="es-CL" sz="1040"/>
          </a:p>
        </p:txBody>
      </p:sp>
      <p:sp>
        <p:nvSpPr>
          <p:cNvPr id="29" name="Text 29"/>
          <p:cNvSpPr txBox="1"/>
          <p:nvPr/>
        </p:nvSpPr>
        <p:spPr>
          <a:xfrm>
            <a:off x="8193024" y="3182112"/>
            <a:ext cx="32735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30" name="Shape 30"/>
          <p:cNvSpPr/>
          <p:nvPr/>
        </p:nvSpPr>
        <p:spPr>
          <a:xfrm>
            <a:off x="8193024" y="3182112"/>
            <a:ext cx="73152" cy="1234440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412480" y="3328416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P6  Criminalidad</a:t>
            </a:r>
            <a:endParaRPr lang="es-CL" sz="1250"/>
          </a:p>
        </p:txBody>
      </p:sp>
      <p:sp>
        <p:nvSpPr>
          <p:cNvPr id="32" name="Text 32"/>
          <p:cNvSpPr txBox="1"/>
          <p:nvPr/>
        </p:nvSpPr>
        <p:spPr>
          <a:xfrm>
            <a:off x="8412480" y="3657600"/>
            <a:ext cx="2944368" cy="6492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Probar prediccion de CRIM.</a:t>
            </a:r>
            <a:endParaRPr lang="es-CL" sz="1040"/>
          </a:p>
        </p:txBody>
      </p:sp>
      <p:sp>
        <p:nvSpPr>
          <p:cNvPr id="33" name="Text 3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500">
                <a:solidFill>
                  <a:srgbClr val="1E2730"/>
                </a:solidFill>
                <a:latin typeface="Aptos"/>
                <a:ea typeface="Aptos"/>
                <a:cs typeface="Aptos"/>
              </a:rPr>
              <a:t>La problematica combina comprension urbana, relaciones economicas y reduccion de dimensionalidad para responder con evidencia cuantitativa.</a:t>
            </a:r>
            <a:endParaRPr lang="es-CL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DATOS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Comprension y preparacion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04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389888"/>
            <a:ext cx="2331720" cy="841248"/>
          </a:xfrm>
          <a:prstGeom prst="roundRect">
            <a:avLst/>
          </a:prstGeom>
          <a:solidFill>
            <a:srgbClr val="EAF3F1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713232" y="1389888"/>
            <a:ext cx="73152" cy="841248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14400" y="151790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OBSERVACIONES</a:t>
            </a:r>
            <a:endParaRPr lang="es-CL" sz="820"/>
          </a:p>
        </p:txBody>
      </p:sp>
      <p:sp>
        <p:nvSpPr>
          <p:cNvPr id="12" name="Text 12"/>
          <p:cNvSpPr txBox="1"/>
          <p:nvPr/>
        </p:nvSpPr>
        <p:spPr>
          <a:xfrm>
            <a:off x="914400" y="1737360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506</a:t>
            </a:r>
            <a:endParaRPr lang="es-CL" sz="1800"/>
          </a:p>
        </p:txBody>
      </p:sp>
      <p:sp>
        <p:nvSpPr>
          <p:cNvPr id="13" name="Text 13"/>
          <p:cNvSpPr txBox="1"/>
          <p:nvPr/>
        </p:nvSpPr>
        <p:spPr>
          <a:xfrm>
            <a:off x="3310128" y="1389888"/>
            <a:ext cx="2331720" cy="841248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3310128" y="1389888"/>
            <a:ext cx="73152" cy="841248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511296" y="151790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VARIABLES</a:t>
            </a:r>
            <a:endParaRPr lang="es-CL" sz="820"/>
          </a:p>
        </p:txBody>
      </p:sp>
      <p:sp>
        <p:nvSpPr>
          <p:cNvPr id="16" name="Text 16"/>
          <p:cNvSpPr txBox="1"/>
          <p:nvPr/>
        </p:nvSpPr>
        <p:spPr>
          <a:xfrm>
            <a:off x="3511296" y="1737360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14</a:t>
            </a:r>
            <a:endParaRPr lang="es-CL" sz="1800"/>
          </a:p>
        </p:txBody>
      </p:sp>
      <p:sp>
        <p:nvSpPr>
          <p:cNvPr id="17" name="Text 17"/>
          <p:cNvSpPr txBox="1"/>
          <p:nvPr/>
        </p:nvSpPr>
        <p:spPr>
          <a:xfrm>
            <a:off x="5907024" y="1389888"/>
            <a:ext cx="2331720" cy="841248"/>
          </a:xfrm>
          <a:prstGeom prst="roundRect">
            <a:avLst/>
          </a:prstGeom>
          <a:solidFill>
            <a:srgbClr val="FAF1E7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5907024" y="1389888"/>
            <a:ext cx="73152" cy="841248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108192" y="151790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FALTANTES</a:t>
            </a:r>
            <a:endParaRPr lang="es-CL" sz="820"/>
          </a:p>
        </p:txBody>
      </p:sp>
      <p:sp>
        <p:nvSpPr>
          <p:cNvPr id="20" name="Text 20"/>
          <p:cNvSpPr txBox="1"/>
          <p:nvPr/>
        </p:nvSpPr>
        <p:spPr>
          <a:xfrm>
            <a:off x="6108192" y="1737360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0</a:t>
            </a:r>
            <a:endParaRPr lang="es-CL" sz="1800"/>
          </a:p>
        </p:txBody>
      </p:sp>
      <p:sp>
        <p:nvSpPr>
          <p:cNvPr id="21" name="Text 21"/>
          <p:cNvSpPr txBox="1"/>
          <p:nvPr/>
        </p:nvSpPr>
        <p:spPr>
          <a:xfrm>
            <a:off x="8503920" y="1389888"/>
            <a:ext cx="2331720" cy="841248"/>
          </a:xfrm>
          <a:prstGeom prst="roundRect">
            <a:avLst/>
          </a:prstGeom>
          <a:solidFill>
            <a:srgbClr val="F7EDEA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2" name="Shape 22"/>
          <p:cNvSpPr/>
          <p:nvPr/>
        </p:nvSpPr>
        <p:spPr>
          <a:xfrm>
            <a:off x="8503920" y="1389888"/>
            <a:ext cx="73152" cy="841248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705088" y="151790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FUENTE</a:t>
            </a:r>
            <a:endParaRPr lang="es-CL" sz="820"/>
          </a:p>
        </p:txBody>
      </p:sp>
      <p:sp>
        <p:nvSpPr>
          <p:cNvPr id="24" name="Text 24"/>
          <p:cNvSpPr txBox="1"/>
          <p:nvPr/>
        </p:nvSpPr>
        <p:spPr>
          <a:xfrm>
            <a:off x="8705088" y="1737360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MASS::Boston</a:t>
            </a:r>
            <a:endParaRPr lang="es-CL" sz="1800"/>
          </a:p>
        </p:txBody>
      </p:sp>
      <p:sp>
        <p:nvSpPr>
          <p:cNvPr id="25" name="Text 25"/>
          <p:cNvSpPr txBox="1"/>
          <p:nvPr/>
        </p:nvSpPr>
        <p:spPr>
          <a:xfrm>
            <a:off x="768096" y="2788920"/>
            <a:ext cx="5230368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Variables clave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crim: criminalidad per capita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rm: habitaciones promedio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lstat: menor estatus socioeconomico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chas: limite con rio Charles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medv: valor mediano de vivienda</a:t>
            </a:r>
            <a:endParaRPr lang="es-CL" sz="1220"/>
          </a:p>
        </p:txBody>
      </p:sp>
      <p:sp>
        <p:nvSpPr>
          <p:cNvPr id="26" name="Text 26"/>
          <p:cNvSpPr txBox="1"/>
          <p:nvPr/>
        </p:nvSpPr>
        <p:spPr>
          <a:xfrm>
            <a:off x="6446520" y="2788920"/>
            <a:ext cx="4709160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Preparacion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Revision de calidad de datos.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Deteccion IQR de outliers.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Estandarizacion z-score.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PCA con prcomp(center=TRUE, scale.=TRUE).</a:t>
            </a:r>
            <a:endParaRPr lang="es-CL" sz="1220"/>
          </a:p>
          <a:p>
            <a:pPr algn="l">
              <a:spcAft>
                <a:spcPts val="400"/>
              </a:spcAft>
            </a:pPr>
            <a:r>
              <a:rPr lang="es-CL" sz="1220">
                <a:solidFill>
                  <a:srgbClr val="1E2730"/>
                </a:solidFill>
                <a:latin typeface="Aptos"/>
                <a:ea typeface="Aptos"/>
                <a:cs typeface="Aptos"/>
              </a:rPr>
              <a:t>Split 70/30 para prediccion de CRIM.</a:t>
            </a:r>
            <a:endParaRPr lang="es-CL" sz="1220"/>
          </a:p>
        </p:txBody>
      </p:sp>
      <p:sp>
        <p:nvSpPr>
          <p:cNvPr id="27" name="Text 27"/>
          <p:cNvSpPr txBox="1"/>
          <p:nvPr/>
        </p:nvSpPr>
        <p:spPr>
          <a:xfrm>
            <a:off x="2962656" y="5285232"/>
            <a:ext cx="6217920" cy="438912"/>
          </a:xfrm>
          <a:prstGeom prst="roundRect">
            <a:avLst/>
          </a:prstGeom>
          <a:solidFill>
            <a:srgbClr val="EEF0F2"/>
          </a:solidFill>
          <a:ln w="10160">
            <a:solidFill>
              <a:srgbClr val="D9DDD7"/>
            </a:solidFill>
          </a:ln>
        </p:spPr>
        <p:txBody>
          <a:bodyPr wrap="square" anchor="t" lIns="73152" tIns="73152" r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z = (x - media) / desviacion estandar</a:t>
            </a:r>
            <a:endParaRPr lang="es-CL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METODO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CRISP-DM + Analisis de Componentes Principales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05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640080" y="1389888"/>
            <a:ext cx="932688" cy="530352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lang="es-CL" sz="1800"/>
          </a:p>
        </p:txBody>
      </p:sp>
      <p:sp>
        <p:nvSpPr>
          <p:cNvPr id="10" name="Text 10"/>
          <p:cNvSpPr txBox="1"/>
          <p:nvPr/>
        </p:nvSpPr>
        <p:spPr>
          <a:xfrm>
            <a:off x="384048" y="20848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Negocio</a:t>
            </a:r>
            <a:endParaRPr lang="es-CL" sz="1250"/>
          </a:p>
        </p:txBody>
      </p:sp>
      <p:sp>
        <p:nvSpPr>
          <p:cNvPr id="11" name="Text 11"/>
          <p:cNvSpPr txBox="1"/>
          <p:nvPr/>
        </p:nvSpPr>
        <p:spPr>
          <a:xfrm>
            <a:off x="237744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00">
                <a:solidFill>
                  <a:srgbClr val="65727F"/>
                </a:solidFill>
                <a:latin typeface="Aptos"/>
                <a:ea typeface="Aptos"/>
                <a:cs typeface="Aptos"/>
              </a:rPr>
              <a:t>Definir preguntas y criterios de exito.</a:t>
            </a:r>
            <a:endParaRPr lang="es-CL" sz="1000"/>
          </a:p>
        </p:txBody>
      </p:sp>
      <p:sp>
        <p:nvSpPr>
          <p:cNvPr id="12" name="Text 12"/>
          <p:cNvSpPr txBox="1"/>
          <p:nvPr/>
        </p:nvSpPr>
        <p:spPr>
          <a:xfrm>
            <a:off x="2907792" y="1389888"/>
            <a:ext cx="932688" cy="530352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lang="es-CL" sz="1800"/>
          </a:p>
        </p:txBody>
      </p:sp>
      <p:sp>
        <p:nvSpPr>
          <p:cNvPr id="13" name="Text 13"/>
          <p:cNvSpPr txBox="1"/>
          <p:nvPr/>
        </p:nvSpPr>
        <p:spPr>
          <a:xfrm>
            <a:off x="2651760" y="20848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Datos</a:t>
            </a:r>
            <a:endParaRPr lang="es-CL" sz="1250"/>
          </a:p>
        </p:txBody>
      </p:sp>
      <p:sp>
        <p:nvSpPr>
          <p:cNvPr id="14" name="Text 14"/>
          <p:cNvSpPr txBox="1"/>
          <p:nvPr/>
        </p:nvSpPr>
        <p:spPr>
          <a:xfrm>
            <a:off x="2505456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00">
                <a:solidFill>
                  <a:srgbClr val="65727F"/>
                </a:solidFill>
                <a:latin typeface="Aptos"/>
                <a:ea typeface="Aptos"/>
                <a:cs typeface="Aptos"/>
              </a:rPr>
              <a:t>Describir estructura, variables y calidad.</a:t>
            </a:r>
            <a:endParaRPr lang="es-CL" sz="1000"/>
          </a:p>
        </p:txBody>
      </p:sp>
      <p:sp>
        <p:nvSpPr>
          <p:cNvPr id="15" name="Text 15"/>
          <p:cNvSpPr txBox="1"/>
          <p:nvPr/>
        </p:nvSpPr>
        <p:spPr>
          <a:xfrm>
            <a:off x="5175504" y="1389888"/>
            <a:ext cx="932688" cy="530352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4919472" y="20848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Preparacion</a:t>
            </a:r>
            <a:endParaRPr lang="es-CL" sz="1250"/>
          </a:p>
        </p:txBody>
      </p:sp>
      <p:sp>
        <p:nvSpPr>
          <p:cNvPr id="17" name="Text 17"/>
          <p:cNvSpPr txBox="1"/>
          <p:nvPr/>
        </p:nvSpPr>
        <p:spPr>
          <a:xfrm>
            <a:off x="4773168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00">
                <a:solidFill>
                  <a:srgbClr val="65727F"/>
                </a:solidFill>
                <a:latin typeface="Aptos"/>
                <a:ea typeface="Aptos"/>
                <a:cs typeface="Aptos"/>
              </a:rPr>
              <a:t>Estandarizar y separar objetivo CRIM.</a:t>
            </a:r>
            <a:endParaRPr lang="es-CL" sz="1000"/>
          </a:p>
        </p:txBody>
      </p:sp>
      <p:sp>
        <p:nvSpPr>
          <p:cNvPr id="18" name="Text 18"/>
          <p:cNvSpPr txBox="1"/>
          <p:nvPr/>
        </p:nvSpPr>
        <p:spPr>
          <a:xfrm>
            <a:off x="7443216" y="1389888"/>
            <a:ext cx="932688" cy="530352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lang="es-CL" sz="1800"/>
          </a:p>
        </p:txBody>
      </p:sp>
      <p:sp>
        <p:nvSpPr>
          <p:cNvPr id="19" name="Text 19"/>
          <p:cNvSpPr txBox="1"/>
          <p:nvPr/>
        </p:nvSpPr>
        <p:spPr>
          <a:xfrm>
            <a:off x="7187184" y="20848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Modelamiento</a:t>
            </a:r>
            <a:endParaRPr lang="es-CL" sz="1250"/>
          </a:p>
        </p:txBody>
      </p:sp>
      <p:sp>
        <p:nvSpPr>
          <p:cNvPr id="20" name="Text 20"/>
          <p:cNvSpPr txBox="1"/>
          <p:nvPr/>
        </p:nvSpPr>
        <p:spPr>
          <a:xfrm>
            <a:off x="7040880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00">
                <a:solidFill>
                  <a:srgbClr val="65727F"/>
                </a:solidFill>
                <a:latin typeface="Aptos"/>
                <a:ea typeface="Aptos"/>
                <a:cs typeface="Aptos"/>
              </a:rPr>
              <a:t>Aplicar PCA y regresion sobre componentes.</a:t>
            </a:r>
            <a:endParaRPr lang="es-CL" sz="1000"/>
          </a:p>
        </p:txBody>
      </p:sp>
      <p:sp>
        <p:nvSpPr>
          <p:cNvPr id="21" name="Text 21"/>
          <p:cNvSpPr txBox="1"/>
          <p:nvPr/>
        </p:nvSpPr>
        <p:spPr>
          <a:xfrm>
            <a:off x="9710928" y="1389888"/>
            <a:ext cx="932688" cy="530352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lang="es-CL" sz="1800"/>
          </a:p>
        </p:txBody>
      </p:sp>
      <p:sp>
        <p:nvSpPr>
          <p:cNvPr id="22" name="Text 22"/>
          <p:cNvSpPr txBox="1"/>
          <p:nvPr/>
        </p:nvSpPr>
        <p:spPr>
          <a:xfrm>
            <a:off x="9454896" y="2084832"/>
            <a:ext cx="16276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Evaluacion</a:t>
            </a:r>
            <a:endParaRPr lang="es-CL" sz="1250"/>
          </a:p>
        </p:txBody>
      </p:sp>
      <p:sp>
        <p:nvSpPr>
          <p:cNvPr id="23" name="Text 23"/>
          <p:cNvSpPr txBox="1"/>
          <p:nvPr/>
        </p:nvSpPr>
        <p:spPr>
          <a:xfrm>
            <a:off x="9308592" y="248716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00">
                <a:solidFill>
                  <a:srgbClr val="65727F"/>
                </a:solidFill>
                <a:latin typeface="Aptos"/>
                <a:ea typeface="Aptos"/>
                <a:cs typeface="Aptos"/>
              </a:rPr>
              <a:t>Responder preguntas con evidencia.</a:t>
            </a:r>
            <a:endParaRPr lang="es-CL" sz="1000"/>
          </a:p>
        </p:txBody>
      </p:sp>
      <p:sp>
        <p:nvSpPr>
          <p:cNvPr id="24" name="Text 24"/>
          <p:cNvSpPr txBox="1"/>
          <p:nvPr/>
        </p:nvSpPr>
        <p:spPr>
          <a:xfrm>
            <a:off x="841248" y="4005072"/>
            <a:ext cx="5349240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146304" tIns="146304" rIns="146304" bIns="14630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320">
                <a:solidFill>
                  <a:srgbClr val="1E2730"/>
                </a:solidFill>
                <a:latin typeface="Aptos"/>
                <a:ea typeface="Aptos"/>
                <a:cs typeface="Aptos"/>
              </a:rPr>
              <a:t>PCA reduce variables correlacionadas a componentes ortogonales ordenados por varianza explicada. Esto permite leer patrones urbanos agregados sin revisar cada variable por separado.</a:t>
            </a:r>
            <a:endParaRPr lang="es-CL" sz="1320"/>
          </a:p>
        </p:txBody>
      </p:sp>
      <p:sp>
        <p:nvSpPr>
          <p:cNvPr id="25" name="Text 25"/>
          <p:cNvSpPr txBox="1"/>
          <p:nvPr/>
        </p:nvSpPr>
        <p:spPr>
          <a:xfrm>
            <a:off x="6656832" y="4005072"/>
            <a:ext cx="4553712" cy="1243584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D9DDD7"/>
            </a:solidFill>
          </a:ln>
        </p:spPr>
        <p:txBody>
          <a:bodyPr wrap="square" anchor="t" lIns="146304" tIns="146304" rIns="146304" bIns="14630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320">
                <a:solidFill>
                  <a:srgbClr val="1E2730"/>
                </a:solidFill>
                <a:latin typeface="Aptos"/>
                <a:ea typeface="Aptos"/>
                <a:cs typeface="Aptos"/>
              </a:rPr>
              <a:t>Criterio usado</a:t>
            </a:r>
            <a:endParaRPr lang="es-CL" sz="1320"/>
          </a:p>
          <a:p>
            <a:pPr algn="l">
              <a:spcAft>
                <a:spcPts val="400"/>
              </a:spcAft>
            </a:pPr>
            <a:r>
              <a:rPr lang="es-CL" sz="1320">
                <a:solidFill>
                  <a:srgbClr val="1E2730"/>
                </a:solidFill>
                <a:latin typeface="Aptos"/>
                <a:ea typeface="Aptos"/>
                <a:cs typeface="Aptos"/>
              </a:rPr>
              <a:t>Conservar componentes hasta superar 80% de varianza explicada y evaluar interpretacion de PC1/PC2.</a:t>
            </a:r>
            <a:endParaRPr lang="es-CL" sz="13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EXPLORACION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Hallazgos antes del PCA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06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61872"/>
            <a:ext cx="3657600" cy="3419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pic>
        <p:nvPicPr>
          <p:cNvPr id="10" name="fig01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23060"/>
            <a:ext cx="3291840" cy="205740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896112" y="3968496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60">
                <a:solidFill>
                  <a:srgbClr val="65727F"/>
                </a:solidFill>
                <a:latin typeface="Aptos"/>
                <a:ea typeface="Aptos"/>
                <a:cs typeface="Aptos"/>
              </a:rPr>
              <a:t>Fig. 1. Variables con mas outliers por regla IQR.</a:t>
            </a:r>
            <a:endParaRPr lang="es-CL" sz="860"/>
          </a:p>
        </p:txBody>
      </p:sp>
      <p:sp>
        <p:nvSpPr>
          <p:cNvPr id="12" name="Text 12"/>
          <p:cNvSpPr txBox="1"/>
          <p:nvPr/>
        </p:nvSpPr>
        <p:spPr>
          <a:xfrm>
            <a:off x="4736592" y="1408176"/>
            <a:ext cx="303580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4736592" y="1408176"/>
            <a:ext cx="73152" cy="1225296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956048" y="1554480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Outliers</a:t>
            </a:r>
            <a:endParaRPr lang="es-CL" sz="1250"/>
          </a:p>
        </p:txBody>
      </p:sp>
      <p:sp>
        <p:nvSpPr>
          <p:cNvPr id="15" name="Text 15"/>
          <p:cNvSpPr txBox="1"/>
          <p:nvPr/>
        </p:nvSpPr>
        <p:spPr>
          <a:xfrm>
            <a:off x="4956048" y="1883664"/>
            <a:ext cx="270662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Destacan black (77), zn (68), crim (66), medv (40) y rm (30).</a:t>
            </a:r>
            <a:endParaRPr lang="es-CL" sz="1040"/>
          </a:p>
        </p:txBody>
      </p:sp>
      <p:sp>
        <p:nvSpPr>
          <p:cNvPr id="16" name="Text 16"/>
          <p:cNvSpPr txBox="1"/>
          <p:nvPr/>
        </p:nvSpPr>
        <p:spPr>
          <a:xfrm>
            <a:off x="8119872" y="1408176"/>
            <a:ext cx="303580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119872" y="1408176"/>
            <a:ext cx="73152" cy="1225296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339328" y="1554480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Casas mas baratas</a:t>
            </a:r>
            <a:endParaRPr lang="es-CL" sz="1250"/>
          </a:p>
        </p:txBody>
      </p:sp>
      <p:sp>
        <p:nvSpPr>
          <p:cNvPr id="19" name="Text 19"/>
          <p:cNvSpPr txBox="1"/>
          <p:nvPr/>
        </p:nvSpPr>
        <p:spPr>
          <a:xfrm>
            <a:off x="8339328" y="1883664"/>
            <a:ext cx="270662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El dataset no incluye nombres reales; se reportan IDs. Los menores MEDV son ID 399 e ID 406 con valor 5.</a:t>
            </a:r>
            <a:endParaRPr lang="es-CL" sz="1040"/>
          </a:p>
        </p:txBody>
      </p:sp>
      <p:sp>
        <p:nvSpPr>
          <p:cNvPr id="20" name="Text 20"/>
          <p:cNvSpPr txBox="1"/>
          <p:nvPr/>
        </p:nvSpPr>
        <p:spPr>
          <a:xfrm>
            <a:off x="4736592" y="3063240"/>
            <a:ext cx="303580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4736592" y="3063240"/>
            <a:ext cx="73152" cy="1225296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956048" y="3209544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Lectura</a:t>
            </a:r>
            <a:endParaRPr lang="es-CL" sz="1250"/>
          </a:p>
        </p:txBody>
      </p:sp>
      <p:sp>
        <p:nvSpPr>
          <p:cNvPr id="23" name="Text 23"/>
          <p:cNvSpPr txBox="1"/>
          <p:nvPr/>
        </p:nvSpPr>
        <p:spPr>
          <a:xfrm>
            <a:off x="4956048" y="3538728"/>
            <a:ext cx="270662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Los extremos no se eliminan automaticamente; se reportan porque afectan ejes relevantes del PCA.</a:t>
            </a:r>
            <a:endParaRPr lang="es-CL" sz="1040"/>
          </a:p>
        </p:txBody>
      </p:sp>
      <p:sp>
        <p:nvSpPr>
          <p:cNvPr id="24" name="Text 24"/>
          <p:cNvSpPr txBox="1"/>
          <p:nvPr/>
        </p:nvSpPr>
        <p:spPr>
          <a:xfrm>
            <a:off x="8119872" y="3063240"/>
            <a:ext cx="3035808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5" name="Shape 25"/>
          <p:cNvSpPr/>
          <p:nvPr/>
        </p:nvSpPr>
        <p:spPr>
          <a:xfrm>
            <a:off x="8119872" y="3063240"/>
            <a:ext cx="73152" cy="1225296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339328" y="3209544"/>
            <a:ext cx="27066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Precaucion</a:t>
            </a:r>
            <a:endParaRPr lang="es-CL" sz="1250"/>
          </a:p>
        </p:txBody>
      </p:sp>
      <p:sp>
        <p:nvSpPr>
          <p:cNvPr id="27" name="Text 27"/>
          <p:cNvSpPr txBox="1"/>
          <p:nvPr/>
        </p:nvSpPr>
        <p:spPr>
          <a:xfrm>
            <a:off x="8339328" y="3538728"/>
            <a:ext cx="270662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black se conserva por reproducibilidad historica, pero no se usa para conclusiones sociales sustantivas.</a:t>
            </a:r>
            <a:endParaRPr lang="es-CL" sz="10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PCA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Resultados de componentes principales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07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43584"/>
            <a:ext cx="475488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pic>
        <p:nvPicPr>
          <p:cNvPr id="10" name="fig02_pca_va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59052"/>
            <a:ext cx="4315968" cy="269748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32688" y="4517136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60">
                <a:solidFill>
                  <a:srgbClr val="65727F"/>
                </a:solidFill>
                <a:latin typeface="Aptos"/>
                <a:ea typeface="Aptos"/>
                <a:cs typeface="Aptos"/>
              </a:rPr>
              <a:t>Fig. 2. Varianza individual y acumulada por componente.</a:t>
            </a:r>
            <a:endParaRPr lang="es-CL" sz="860"/>
          </a:p>
        </p:txBody>
      </p:sp>
      <p:sp>
        <p:nvSpPr>
          <p:cNvPr id="12" name="Text 12"/>
          <p:cNvSpPr txBox="1"/>
          <p:nvPr/>
        </p:nvSpPr>
        <p:spPr>
          <a:xfrm>
            <a:off x="5943600" y="1335024"/>
            <a:ext cx="2395728" cy="841248"/>
          </a:xfrm>
          <a:prstGeom prst="roundRect">
            <a:avLst/>
          </a:prstGeom>
          <a:solidFill>
            <a:srgbClr val="EAF3F1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5943600" y="1335024"/>
            <a:ext cx="73152" cy="841248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144768" y="146304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PC1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6144768" y="1682496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46,76%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558784" y="1335024"/>
            <a:ext cx="2395728" cy="841248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558784" y="1335024"/>
            <a:ext cx="73152" cy="841248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759952" y="146304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PC1-PC5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759952" y="1682496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80,58%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5943600" y="2615184"/>
            <a:ext cx="2395728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5943600" y="2615184"/>
            <a:ext cx="73152" cy="1517904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163056" y="276148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PC1</a:t>
            </a:r>
            <a:endParaRPr lang="es-CL" sz="1250"/>
          </a:p>
        </p:txBody>
      </p:sp>
      <p:sp>
        <p:nvSpPr>
          <p:cNvPr id="23" name="Text 23"/>
          <p:cNvSpPr txBox="1"/>
          <p:nvPr/>
        </p:nvSpPr>
        <p:spPr>
          <a:xfrm>
            <a:off x="6163056" y="3090672"/>
            <a:ext cx="2066544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Presion urbana y socioeconomica: indus, nox, tax, lstat y rad; opuesto a medv.</a:t>
            </a:r>
            <a:endParaRPr lang="es-CL" sz="1040"/>
          </a:p>
        </p:txBody>
      </p:sp>
      <p:sp>
        <p:nvSpPr>
          <p:cNvPr id="24" name="Text 24"/>
          <p:cNvSpPr txBox="1"/>
          <p:nvPr/>
        </p:nvSpPr>
        <p:spPr>
          <a:xfrm>
            <a:off x="8558784" y="2615184"/>
            <a:ext cx="2395728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5" name="Shape 25"/>
          <p:cNvSpPr/>
          <p:nvPr/>
        </p:nvSpPr>
        <p:spPr>
          <a:xfrm>
            <a:off x="8558784" y="2615184"/>
            <a:ext cx="73152" cy="1517904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778240" y="276148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PC2</a:t>
            </a:r>
            <a:endParaRPr lang="es-CL" sz="1250"/>
          </a:p>
        </p:txBody>
      </p:sp>
      <p:sp>
        <p:nvSpPr>
          <p:cNvPr id="27" name="Text 27"/>
          <p:cNvSpPr txBox="1"/>
          <p:nvPr/>
        </p:nvSpPr>
        <p:spPr>
          <a:xfrm>
            <a:off x="8778240" y="3090672"/>
            <a:ext cx="2066544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Eje residencial: medv, rm y chas cargan positivamente.</a:t>
            </a:r>
            <a:endParaRPr lang="es-CL" sz="1040"/>
          </a:p>
        </p:txBody>
      </p:sp>
      <p:sp>
        <p:nvSpPr>
          <p:cNvPr id="28" name="Text 28"/>
          <p:cNvSpPr txBox="1"/>
          <p:nvPr/>
        </p:nvSpPr>
        <p:spPr>
          <a:xfrm>
            <a:off x="6126480" y="464515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20">
                <a:solidFill>
                  <a:srgbClr val="1E2730"/>
                </a:solidFill>
                <a:latin typeface="Aptos"/>
                <a:ea typeface="Aptos"/>
                <a:cs typeface="Aptos"/>
              </a:rPr>
              <a:t>Interpretacion central: mayor presion urbana se asocia con menor valor habitacional, mientras PC2 agrupa atributos residenciales favorables.</a:t>
            </a:r>
            <a:endParaRPr lang="es-CL" sz="13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PCA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Lectura visual del plano PC1-PC2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08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31520" y="1225296"/>
            <a:ext cx="5715000" cy="3968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pic>
        <p:nvPicPr>
          <p:cNvPr id="10" name="fig03_pca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12" y="1444752"/>
            <a:ext cx="4723960" cy="318211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69264" y="4736592"/>
            <a:ext cx="52486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60">
                <a:solidFill>
                  <a:srgbClr val="65727F"/>
                </a:solidFill>
                <a:latin typeface="Aptos"/>
                <a:ea typeface="Aptos"/>
                <a:cs typeface="Aptos"/>
              </a:rPr>
              <a:t>Fig. 3. Biplot PCA simplificado para PC1 y PC2.</a:t>
            </a:r>
            <a:endParaRPr lang="es-CL" sz="860"/>
          </a:p>
        </p:txBody>
      </p:sp>
      <p:sp>
        <p:nvSpPr>
          <p:cNvPr id="12" name="Text 12"/>
          <p:cNvSpPr txBox="1"/>
          <p:nvPr/>
        </p:nvSpPr>
        <p:spPr>
          <a:xfrm>
            <a:off x="6812280" y="1371600"/>
            <a:ext cx="427939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6812280" y="1371600"/>
            <a:ext cx="73152" cy="1078992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7031736" y="1517904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Variables alineadas</a:t>
            </a:r>
            <a:endParaRPr lang="es-CL" sz="1250"/>
          </a:p>
        </p:txBody>
      </p:sp>
      <p:sp>
        <p:nvSpPr>
          <p:cNvPr id="15" name="Text 15"/>
          <p:cNvSpPr txBox="1"/>
          <p:nvPr/>
        </p:nvSpPr>
        <p:spPr>
          <a:xfrm>
            <a:off x="7031736" y="1847088"/>
            <a:ext cx="3950208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rm, medv y chas aparecen cercanas en PC2: senal residencial positiva.</a:t>
            </a:r>
            <a:endParaRPr lang="es-CL" sz="1040"/>
          </a:p>
        </p:txBody>
      </p:sp>
      <p:sp>
        <p:nvSpPr>
          <p:cNvPr id="16" name="Text 16"/>
          <p:cNvSpPr txBox="1"/>
          <p:nvPr/>
        </p:nvSpPr>
        <p:spPr>
          <a:xfrm>
            <a:off x="6812280" y="2724912"/>
            <a:ext cx="427939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6812280" y="2724912"/>
            <a:ext cx="73152" cy="1078992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7031736" y="2871216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Variables opuestas</a:t>
            </a:r>
            <a:endParaRPr lang="es-CL" sz="1250"/>
          </a:p>
        </p:txBody>
      </p:sp>
      <p:sp>
        <p:nvSpPr>
          <p:cNvPr id="19" name="Text 19"/>
          <p:cNvSpPr txBox="1"/>
          <p:nvPr/>
        </p:nvSpPr>
        <p:spPr>
          <a:xfrm>
            <a:off x="7031736" y="3200400"/>
            <a:ext cx="3950208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lstat se ubica en direccion contraria al valor habitacional, coherente con su relacion negativa.</a:t>
            </a:r>
            <a:endParaRPr lang="es-CL" sz="1040"/>
          </a:p>
        </p:txBody>
      </p:sp>
      <p:sp>
        <p:nvSpPr>
          <p:cNvPr id="20" name="Text 20"/>
          <p:cNvSpPr txBox="1"/>
          <p:nvPr/>
        </p:nvSpPr>
        <p:spPr>
          <a:xfrm>
            <a:off x="6812280" y="4078224"/>
            <a:ext cx="4279392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6812280" y="4078224"/>
            <a:ext cx="73152" cy="1078992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7031736" y="4224528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Aporte del PCA</a:t>
            </a:r>
            <a:endParaRPr lang="es-CL" sz="1250"/>
          </a:p>
        </p:txBody>
      </p:sp>
      <p:sp>
        <p:nvSpPr>
          <p:cNvPr id="23" name="Text 23"/>
          <p:cNvSpPr txBox="1"/>
          <p:nvPr/>
        </p:nvSpPr>
        <p:spPr>
          <a:xfrm>
            <a:off x="7031736" y="4553712"/>
            <a:ext cx="3950208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Resume relaciones multivariadas y da contexto a las respuestas individuales.</a:t>
            </a:r>
            <a:endParaRPr lang="es-CL" sz="10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RESPUESTAS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Determinantes del valor de vivienda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09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371600"/>
            <a:ext cx="3200400" cy="841248"/>
          </a:xfrm>
          <a:prstGeom prst="roundRect">
            <a:avLst/>
          </a:prstGeom>
          <a:solidFill>
            <a:srgbClr val="EAF3F1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713232" y="1371600"/>
            <a:ext cx="73152" cy="841248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14400" y="1499616"/>
            <a:ext cx="2907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TAMANO DE CASA</a:t>
            </a:r>
            <a:endParaRPr lang="es-CL" sz="820"/>
          </a:p>
        </p:txBody>
      </p:sp>
      <p:sp>
        <p:nvSpPr>
          <p:cNvPr id="12" name="Text 12"/>
          <p:cNvSpPr txBox="1"/>
          <p:nvPr/>
        </p:nvSpPr>
        <p:spPr>
          <a:xfrm>
            <a:off x="914400" y="17190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rm-medv = 0,695</a:t>
            </a:r>
            <a:endParaRPr lang="es-CL" sz="1800"/>
          </a:p>
        </p:txBody>
      </p:sp>
      <p:sp>
        <p:nvSpPr>
          <p:cNvPr id="13" name="Text 13"/>
          <p:cNvSpPr txBox="1"/>
          <p:nvPr/>
        </p:nvSpPr>
        <p:spPr>
          <a:xfrm>
            <a:off x="4498848" y="1371600"/>
            <a:ext cx="3200400" cy="841248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4498848" y="1371600"/>
            <a:ext cx="73152" cy="841248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700016" y="1499616"/>
            <a:ext cx="2907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RIO CHARLES</a:t>
            </a:r>
            <a:endParaRPr lang="es-CL" sz="820"/>
          </a:p>
        </p:txBody>
      </p:sp>
      <p:sp>
        <p:nvSpPr>
          <p:cNvPr id="16" name="Text 16"/>
          <p:cNvSpPr txBox="1"/>
          <p:nvPr/>
        </p:nvSpPr>
        <p:spPr>
          <a:xfrm>
            <a:off x="4700016" y="17190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+6,346 mil USD</a:t>
            </a:r>
            <a:endParaRPr lang="es-CL" sz="1800"/>
          </a:p>
        </p:txBody>
      </p:sp>
      <p:sp>
        <p:nvSpPr>
          <p:cNvPr id="17" name="Text 17"/>
          <p:cNvSpPr txBox="1"/>
          <p:nvPr/>
        </p:nvSpPr>
        <p:spPr>
          <a:xfrm>
            <a:off x="8284464" y="1371600"/>
            <a:ext cx="3200400" cy="841248"/>
          </a:xfrm>
          <a:prstGeom prst="roundRect">
            <a:avLst/>
          </a:prstGeom>
          <a:solidFill>
            <a:srgbClr val="F7EDEA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8284464" y="1371600"/>
            <a:ext cx="73152" cy="841248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485632" y="1499616"/>
            <a:ext cx="2907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ESTATUS</a:t>
            </a:r>
            <a:endParaRPr lang="es-CL" sz="820"/>
          </a:p>
        </p:txBody>
      </p:sp>
      <p:sp>
        <p:nvSpPr>
          <p:cNvPr id="20" name="Text 20"/>
          <p:cNvSpPr txBox="1"/>
          <p:nvPr/>
        </p:nvSpPr>
        <p:spPr>
          <a:xfrm>
            <a:off x="8485632" y="17190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lstat-medv = -0,738</a:t>
            </a:r>
            <a:endParaRPr lang="es-CL" sz="1800"/>
          </a:p>
        </p:txBody>
      </p:sp>
      <p:sp>
        <p:nvSpPr>
          <p:cNvPr id="21" name="Text 21"/>
          <p:cNvSpPr txBox="1"/>
          <p:nvPr/>
        </p:nvSpPr>
        <p:spPr>
          <a:xfrm>
            <a:off x="804672" y="2788920"/>
            <a:ext cx="312724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2" name="Shape 22"/>
          <p:cNvSpPr/>
          <p:nvPr/>
        </p:nvSpPr>
        <p:spPr>
          <a:xfrm>
            <a:off x="804672" y="2788920"/>
            <a:ext cx="73152" cy="1664208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24128" y="2935224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P3 Tamano</a:t>
            </a:r>
            <a:endParaRPr lang="es-CL" sz="1250"/>
          </a:p>
        </p:txBody>
      </p:sp>
      <p:sp>
        <p:nvSpPr>
          <p:cNvPr id="24" name="Text 24"/>
          <p:cNvSpPr txBox="1"/>
          <p:nvPr/>
        </p:nvSpPr>
        <p:spPr>
          <a:xfrm>
            <a:off x="1024128" y="3264408"/>
            <a:ext cx="2798064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Cada habitacion promedio adicional se asocia con +9,102 miles de dolares en MEDV (p &lt; 0,001).</a:t>
            </a:r>
            <a:endParaRPr lang="es-CL" sz="1040"/>
          </a:p>
        </p:txBody>
      </p:sp>
      <p:sp>
        <p:nvSpPr>
          <p:cNvPr id="25" name="Text 25"/>
          <p:cNvSpPr txBox="1"/>
          <p:nvPr/>
        </p:nvSpPr>
        <p:spPr>
          <a:xfrm>
            <a:off x="4535424" y="2788920"/>
            <a:ext cx="312724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6" name="Shape 26"/>
          <p:cNvSpPr/>
          <p:nvPr/>
        </p:nvSpPr>
        <p:spPr>
          <a:xfrm>
            <a:off x="4535424" y="2788920"/>
            <a:ext cx="73152" cy="1664208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4754880" y="2935224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P4 Charles</a:t>
            </a:r>
            <a:endParaRPr lang="es-CL" sz="1250"/>
          </a:p>
        </p:txBody>
      </p:sp>
      <p:sp>
        <p:nvSpPr>
          <p:cNvPr id="28" name="Text 28"/>
          <p:cNvSpPr txBox="1"/>
          <p:nvPr/>
        </p:nvSpPr>
        <p:spPr>
          <a:xfrm>
            <a:off x="4754880" y="3264408"/>
            <a:ext cx="2798064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MEDV medio: 28,440 con rio vs 22,094 sin rio; p = 0,00357. CHAS es binaria y solo 35 casos limitan con el rio.</a:t>
            </a:r>
            <a:endParaRPr lang="es-CL" sz="1040"/>
          </a:p>
        </p:txBody>
      </p:sp>
      <p:sp>
        <p:nvSpPr>
          <p:cNvPr id="29" name="Text 29"/>
          <p:cNvSpPr txBox="1"/>
          <p:nvPr/>
        </p:nvSpPr>
        <p:spPr>
          <a:xfrm>
            <a:off x="8266176" y="2788920"/>
            <a:ext cx="3127248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30" name="Shape 30"/>
          <p:cNvSpPr/>
          <p:nvPr/>
        </p:nvSpPr>
        <p:spPr>
          <a:xfrm>
            <a:off x="8266176" y="2788920"/>
            <a:ext cx="73152" cy="1664208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485632" y="2935224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P5 Estatus</a:t>
            </a:r>
            <a:endParaRPr lang="es-CL" sz="1250"/>
          </a:p>
        </p:txBody>
      </p:sp>
      <p:sp>
        <p:nvSpPr>
          <p:cNvPr id="32" name="Text 32"/>
          <p:cNvSpPr txBox="1"/>
          <p:nvPr/>
        </p:nvSpPr>
        <p:spPr>
          <a:xfrm>
            <a:off x="8485632" y="3264408"/>
            <a:ext cx="2798064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Cada punto adicional en LSTAT se asocia con -0,950 miles de dolares en MEDV (p &lt; 0,001).</a:t>
            </a:r>
            <a:endParaRPr lang="es-CL" sz="1040"/>
          </a:p>
        </p:txBody>
      </p:sp>
      <p:sp>
        <p:nvSpPr>
          <p:cNvPr id="33" name="Text 33"/>
          <p:cNvSpPr txBox="1"/>
          <p:nvPr/>
        </p:nvSpPr>
        <p:spPr>
          <a:xfrm>
            <a:off x="1389888" y="5212080"/>
            <a:ext cx="940003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48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En PCA, rm y medv se alinean en PC2; lstat se opone a medv, reforzando los resultados directos.</a:t>
            </a:r>
            <a:endParaRPr lang="es-CL" sz="14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PREDICCION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Criminalidad con componentes principales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10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25296"/>
            <a:ext cx="4956048" cy="4005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pic>
        <p:nvPicPr>
          <p:cNvPr id="10" name="fig04_prediccion_c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2" y="1481328"/>
            <a:ext cx="4326941" cy="309067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32688" y="4736592"/>
            <a:ext cx="44988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60">
                <a:solidFill>
                  <a:srgbClr val="65727F"/>
                </a:solidFill>
                <a:latin typeface="Aptos"/>
                <a:ea typeface="Aptos"/>
                <a:cs typeface="Aptos"/>
              </a:rPr>
              <a:t>Fig. 4. Prediccion de log1p(crim) en conjunto de prueba.</a:t>
            </a:r>
            <a:endParaRPr lang="es-CL" sz="860"/>
          </a:p>
        </p:txBody>
      </p:sp>
      <p:sp>
        <p:nvSpPr>
          <p:cNvPr id="12" name="Text 12"/>
          <p:cNvSpPr txBox="1"/>
          <p:nvPr/>
        </p:nvSpPr>
        <p:spPr>
          <a:xfrm>
            <a:off x="6144768" y="1335024"/>
            <a:ext cx="2267712" cy="841248"/>
          </a:xfrm>
          <a:prstGeom prst="roundRect">
            <a:avLst/>
          </a:prstGeom>
          <a:solidFill>
            <a:srgbClr val="EAF3F1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6144768" y="1335024"/>
            <a:ext cx="73152" cy="841248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345936" y="1463040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ENTRENAMIENTO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6345936" y="168249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354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668512" y="1335024"/>
            <a:ext cx="2267712" cy="841248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668512" y="1335024"/>
            <a:ext cx="73152" cy="841248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869680" y="1463040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PRUEBA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869680" y="168249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152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6144768" y="2395728"/>
            <a:ext cx="2267712" cy="841248"/>
          </a:xfrm>
          <a:prstGeom prst="roundRect">
            <a:avLst/>
          </a:prstGeom>
          <a:solidFill>
            <a:srgbClr val="FAF1E7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6144768" y="2395728"/>
            <a:ext cx="73152" cy="841248"/>
          </a:xfrm>
          <a:prstGeom prst="roundRect">
            <a:avLst/>
          </a:prstGeom>
          <a:solidFill>
            <a:srgbClr val="B8875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345936" y="2523744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COMPONENTES</a:t>
            </a:r>
            <a:endParaRPr lang="es-CL" sz="820"/>
          </a:p>
        </p:txBody>
      </p:sp>
      <p:sp>
        <p:nvSpPr>
          <p:cNvPr id="23" name="Text 23"/>
          <p:cNvSpPr txBox="1"/>
          <p:nvPr/>
        </p:nvSpPr>
        <p:spPr>
          <a:xfrm>
            <a:off x="6345936" y="2743200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5</a:t>
            </a:r>
            <a:endParaRPr lang="es-CL" sz="1800"/>
          </a:p>
        </p:txBody>
      </p:sp>
      <p:sp>
        <p:nvSpPr>
          <p:cNvPr id="24" name="Text 24"/>
          <p:cNvSpPr txBox="1"/>
          <p:nvPr/>
        </p:nvSpPr>
        <p:spPr>
          <a:xfrm>
            <a:off x="8668512" y="2395728"/>
            <a:ext cx="2267712" cy="841248"/>
          </a:xfrm>
          <a:prstGeom prst="roundRect">
            <a:avLst/>
          </a:prstGeom>
          <a:solidFill>
            <a:srgbClr val="F7EDEA"/>
          </a:solidFill>
          <a:ln w="10160">
            <a:solidFill>
              <a:srgbClr val="D9DDD7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5" name="Shape 25"/>
          <p:cNvSpPr/>
          <p:nvPr/>
        </p:nvSpPr>
        <p:spPr>
          <a:xfrm>
            <a:off x="8668512" y="2395728"/>
            <a:ext cx="73152" cy="841248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869680" y="2523744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VARIANZA</a:t>
            </a:r>
            <a:endParaRPr lang="es-CL" sz="820"/>
          </a:p>
        </p:txBody>
      </p:sp>
      <p:sp>
        <p:nvSpPr>
          <p:cNvPr id="27" name="Text 27"/>
          <p:cNvSpPr txBox="1"/>
          <p:nvPr/>
        </p:nvSpPr>
        <p:spPr>
          <a:xfrm>
            <a:off x="8869680" y="2743200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82,84%</a:t>
            </a:r>
            <a:endParaRPr lang="es-CL" sz="1800"/>
          </a:p>
        </p:txBody>
      </p:sp>
      <p:sp>
        <p:nvSpPr>
          <p:cNvPr id="28" name="Text 28"/>
          <p:cNvSpPr txBox="1"/>
          <p:nvPr/>
        </p:nvSpPr>
        <p:spPr>
          <a:xfrm>
            <a:off x="6144768" y="3703320"/>
            <a:ext cx="4791456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29" name="Shape 29"/>
          <p:cNvSpPr/>
          <p:nvPr/>
        </p:nvSpPr>
        <p:spPr>
          <a:xfrm>
            <a:off x="6144768" y="3703320"/>
            <a:ext cx="73152" cy="111556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364224" y="3849624"/>
            <a:ext cx="4462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Resultado P6</a:t>
            </a:r>
            <a:endParaRPr lang="es-CL" sz="1250"/>
          </a:p>
        </p:txBody>
      </p:sp>
      <p:sp>
        <p:nvSpPr>
          <p:cNvPr id="31" name="Text 31"/>
          <p:cNvSpPr txBox="1"/>
          <p:nvPr/>
        </p:nvSpPr>
        <p:spPr>
          <a:xfrm>
            <a:off x="6364224" y="4178808"/>
            <a:ext cx="4462272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El modelo predice log1p(crim) con R2 = 0,8119 y mejora RMSE de 11,85% frente al promedio base.</a:t>
            </a:r>
            <a:endParaRPr lang="es-CL" sz="1040"/>
          </a:p>
        </p:txBody>
      </p:sp>
      <p:sp>
        <p:nvSpPr>
          <p:cNvPr id="32" name="Text 32"/>
          <p:cNvSpPr txBox="1"/>
          <p:nvPr/>
        </p:nvSpPr>
        <p:spPr>
          <a:xfrm>
            <a:off x="6364224" y="5102352"/>
            <a:ext cx="440740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>
                <a:solidFill>
                  <a:srgbClr val="65727F"/>
                </a:solidFill>
                <a:latin typeface="Aptos"/>
                <a:ea typeface="Aptos"/>
                <a:cs typeface="Aptos"/>
              </a:rPr>
              <a:t>Uso academico/exploratorio: no es un modelo listo para despliegue.</a:t>
            </a:r>
            <a:endParaRPr lang="es-CL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RESOLUCION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Respuestas integradas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11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804672" y="1261872"/>
            <a:ext cx="658368" cy="38404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  <a:endParaRPr lang="es-CL" sz="1200"/>
          </a:p>
        </p:txBody>
      </p:sp>
      <p:sp>
        <p:nvSpPr>
          <p:cNvPr id="10" name="Text 10"/>
          <p:cNvSpPr txBox="1"/>
          <p:nvPr/>
        </p:nvSpPr>
        <p:spPr>
          <a:xfrm>
            <a:off x="1627632" y="1289304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00">
                <a:solidFill>
                  <a:srgbClr val="1E2730"/>
                </a:solidFill>
                <a:latin typeface="Aptos"/>
                <a:ea typeface="Aptos"/>
                <a:cs typeface="Aptos"/>
              </a:rPr>
              <a:t>Si hay outliers; destacan black, zn y crim.</a:t>
            </a:r>
            <a:endParaRPr lang="es-CL" sz="1400"/>
          </a:p>
        </p:txBody>
      </p:sp>
      <p:sp>
        <p:nvSpPr>
          <p:cNvPr id="11" name="Text 11"/>
          <p:cNvSpPr txBox="1"/>
          <p:nvPr/>
        </p:nvSpPr>
        <p:spPr>
          <a:xfrm>
            <a:off x="804672" y="1920240"/>
            <a:ext cx="658368" cy="38404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P2</a:t>
            </a:r>
            <a:endParaRPr lang="es-CL" sz="1200"/>
          </a:p>
        </p:txBody>
      </p:sp>
      <p:sp>
        <p:nvSpPr>
          <p:cNvPr id="12" name="Text 12"/>
          <p:cNvSpPr txBox="1"/>
          <p:nvPr/>
        </p:nvSpPr>
        <p:spPr>
          <a:xfrm>
            <a:off x="1627632" y="1947672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00">
                <a:solidFill>
                  <a:srgbClr val="1E2730"/>
                </a:solidFill>
                <a:latin typeface="Aptos"/>
                <a:ea typeface="Aptos"/>
                <a:cs typeface="Aptos"/>
              </a:rPr>
              <a:t>IDs 399 y 406 tienen el menor MEDV = 5.</a:t>
            </a:r>
            <a:endParaRPr lang="es-CL" sz="1400"/>
          </a:p>
        </p:txBody>
      </p:sp>
      <p:sp>
        <p:nvSpPr>
          <p:cNvPr id="13" name="Text 13"/>
          <p:cNvSpPr txBox="1"/>
          <p:nvPr/>
        </p:nvSpPr>
        <p:spPr>
          <a:xfrm>
            <a:off x="804672" y="2578608"/>
            <a:ext cx="658368" cy="38404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P3</a:t>
            </a:r>
            <a:endParaRPr lang="es-CL" sz="1200"/>
          </a:p>
        </p:txBody>
      </p:sp>
      <p:sp>
        <p:nvSpPr>
          <p:cNvPr id="14" name="Text 14"/>
          <p:cNvSpPr txBox="1"/>
          <p:nvPr/>
        </p:nvSpPr>
        <p:spPr>
          <a:xfrm>
            <a:off x="1627632" y="2606040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00">
                <a:solidFill>
                  <a:srgbClr val="1E2730"/>
                </a:solidFill>
                <a:latin typeface="Aptos"/>
                <a:ea typeface="Aptos"/>
                <a:cs typeface="Aptos"/>
              </a:rPr>
              <a:t>Mas habitaciones se asocian con mayor precio.</a:t>
            </a:r>
            <a:endParaRPr lang="es-CL" sz="1400"/>
          </a:p>
        </p:txBody>
      </p:sp>
      <p:sp>
        <p:nvSpPr>
          <p:cNvPr id="15" name="Text 15"/>
          <p:cNvSpPr txBox="1"/>
          <p:nvPr/>
        </p:nvSpPr>
        <p:spPr>
          <a:xfrm>
            <a:off x="804672" y="3236976"/>
            <a:ext cx="658368" cy="38404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P4</a:t>
            </a:r>
            <a:endParaRPr lang="es-CL" sz="1200"/>
          </a:p>
        </p:txBody>
      </p:sp>
      <p:sp>
        <p:nvSpPr>
          <p:cNvPr id="16" name="Text 16"/>
          <p:cNvSpPr txBox="1"/>
          <p:nvPr/>
        </p:nvSpPr>
        <p:spPr>
          <a:xfrm>
            <a:off x="1627632" y="3264408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00">
                <a:solidFill>
                  <a:srgbClr val="1E2730"/>
                </a:solidFill>
                <a:latin typeface="Aptos"/>
                <a:ea typeface="Aptos"/>
                <a:cs typeface="Aptos"/>
              </a:rPr>
              <a:t>Limitar con Charles muestra mayor MEDV, con cautela.</a:t>
            </a:r>
            <a:endParaRPr lang="es-CL" sz="1400"/>
          </a:p>
        </p:txBody>
      </p:sp>
      <p:sp>
        <p:nvSpPr>
          <p:cNvPr id="17" name="Text 17"/>
          <p:cNvSpPr txBox="1"/>
          <p:nvPr/>
        </p:nvSpPr>
        <p:spPr>
          <a:xfrm>
            <a:off x="804672" y="3895344"/>
            <a:ext cx="658368" cy="38404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P5</a:t>
            </a:r>
            <a:endParaRPr lang="es-CL" sz="1200"/>
          </a:p>
        </p:txBody>
      </p:sp>
      <p:sp>
        <p:nvSpPr>
          <p:cNvPr id="18" name="Text 18"/>
          <p:cNvSpPr txBox="1"/>
          <p:nvPr/>
        </p:nvSpPr>
        <p:spPr>
          <a:xfrm>
            <a:off x="1627632" y="3922776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00">
                <a:solidFill>
                  <a:srgbClr val="1E2730"/>
                </a:solidFill>
                <a:latin typeface="Aptos"/>
                <a:ea typeface="Aptos"/>
                <a:cs typeface="Aptos"/>
              </a:rPr>
              <a:t>Mayor LSTAT se asocia con menor valor.</a:t>
            </a:r>
            <a:endParaRPr lang="es-CL" sz="1400"/>
          </a:p>
        </p:txBody>
      </p:sp>
      <p:sp>
        <p:nvSpPr>
          <p:cNvPr id="19" name="Text 19"/>
          <p:cNvSpPr txBox="1"/>
          <p:nvPr/>
        </p:nvSpPr>
        <p:spPr>
          <a:xfrm>
            <a:off x="804672" y="4553712"/>
            <a:ext cx="658368" cy="384048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P6</a:t>
            </a:r>
            <a:endParaRPr lang="es-CL" sz="1200"/>
          </a:p>
        </p:txBody>
      </p:sp>
      <p:sp>
        <p:nvSpPr>
          <p:cNvPr id="20" name="Text 20"/>
          <p:cNvSpPr txBox="1"/>
          <p:nvPr/>
        </p:nvSpPr>
        <p:spPr>
          <a:xfrm>
            <a:off x="1627632" y="4581144"/>
            <a:ext cx="9006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00">
                <a:solidFill>
                  <a:srgbClr val="1E2730"/>
                </a:solidFill>
                <a:latin typeface="Aptos"/>
                <a:ea typeface="Aptos"/>
                <a:cs typeface="Aptos"/>
              </a:rPr>
              <a:t>La criminalidad puede predecirse razonablemente en escala log.</a:t>
            </a:r>
            <a:endParaRPr lang="es-CL" sz="1400"/>
          </a:p>
        </p:txBody>
      </p:sp>
      <p:sp>
        <p:nvSpPr>
          <p:cNvPr id="21" name="Text 21"/>
          <p:cNvSpPr txBox="1"/>
          <p:nvPr/>
        </p:nvSpPr>
        <p:spPr>
          <a:xfrm>
            <a:off x="1042416" y="5486400"/>
            <a:ext cx="10021824" cy="475488"/>
          </a:xfrm>
          <a:prstGeom prst="roundRect">
            <a:avLst/>
          </a:prstGeom>
          <a:solidFill>
            <a:srgbClr val="EEF0F2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52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La resolucion combina evidencia directa y lectura multivariada: PCA no reemplaza las respuestas, las contextualiza.</a:t>
            </a:r>
            <a:endParaRPr lang="es-CL" sz="15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33F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386F6B"/>
                </a:solidFill>
                <a:latin typeface="Aptos"/>
                <a:ea typeface="Aptos"/>
                <a:cs typeface="Aptos"/>
              </a:rPr>
              <a:t>CIERRE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Discusion, limites y fuentes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DDD7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27F"/>
                </a:solidFill>
                <a:latin typeface="Aptos"/>
                <a:ea typeface="Aptos"/>
                <a:cs typeface="Aptos"/>
              </a:rPr>
              <a:t>DI04 | INFO1184 | PCA Boston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27F"/>
                </a:solidFill>
                <a:latin typeface="Aptos"/>
                <a:ea typeface="Aptos"/>
                <a:cs typeface="Aptos"/>
              </a:rPr>
              <a:t>12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49808" y="1316736"/>
            <a:ext cx="321868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749808" y="1316736"/>
            <a:ext cx="73152" cy="1828800"/>
          </a:xfrm>
          <a:prstGeom prst="roundRect">
            <a:avLst/>
          </a:prstGeom>
          <a:solidFill>
            <a:srgbClr val="386F6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69264" y="1463040"/>
            <a:ext cx="2889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Conclusiones</a:t>
            </a:r>
            <a:endParaRPr lang="es-CL" sz="1250"/>
          </a:p>
        </p:txBody>
      </p:sp>
      <p:sp>
        <p:nvSpPr>
          <p:cNvPr id="12" name="Text 12"/>
          <p:cNvSpPr txBox="1"/>
          <p:nvPr/>
        </p:nvSpPr>
        <p:spPr>
          <a:xfrm>
            <a:off x="969264" y="1792224"/>
            <a:ext cx="2889504" cy="12435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PCA sintetiza la estructura urbana; PC1 refleja presion urbana opuesta a MEDV y PC2 resume atributos residenciales favorables.</a:t>
            </a:r>
            <a:endParaRPr lang="es-CL" sz="1040"/>
          </a:p>
        </p:txBody>
      </p:sp>
      <p:sp>
        <p:nvSpPr>
          <p:cNvPr id="13" name="Text 13"/>
          <p:cNvSpPr txBox="1"/>
          <p:nvPr/>
        </p:nvSpPr>
        <p:spPr>
          <a:xfrm>
            <a:off x="4462272" y="1316736"/>
            <a:ext cx="321868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4462272" y="1316736"/>
            <a:ext cx="73152" cy="1828800"/>
          </a:xfrm>
          <a:prstGeom prst="roundRect">
            <a:avLst/>
          </a:prstGeom>
          <a:solidFill>
            <a:srgbClr val="9C5B4A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81728" y="1463040"/>
            <a:ext cx="2889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Limites</a:t>
            </a:r>
            <a:endParaRPr lang="es-CL" sz="1250"/>
          </a:p>
        </p:txBody>
      </p:sp>
      <p:sp>
        <p:nvSpPr>
          <p:cNvPr id="16" name="Text 16"/>
          <p:cNvSpPr txBox="1"/>
          <p:nvPr/>
        </p:nvSpPr>
        <p:spPr>
          <a:xfrm>
            <a:off x="4681728" y="1792224"/>
            <a:ext cx="2889504" cy="12435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Los resultados son asociaciones, no causalidad. El dataset es historico y requiere actualizacion para decisiones reales.</a:t>
            </a:r>
            <a:endParaRPr lang="es-CL" sz="1040"/>
          </a:p>
        </p:txBody>
      </p:sp>
      <p:sp>
        <p:nvSpPr>
          <p:cNvPr id="17" name="Text 17"/>
          <p:cNvSpPr txBox="1"/>
          <p:nvPr/>
        </p:nvSpPr>
        <p:spPr>
          <a:xfrm>
            <a:off x="8174736" y="1316736"/>
            <a:ext cx="3218688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1E2730"/>
                </a:solidFill>
                <a:latin typeface="Aptos"/>
                <a:ea typeface="Aptos"/>
                <a:cs typeface="Apto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8174736" y="1316736"/>
            <a:ext cx="73152" cy="1828800"/>
          </a:xfrm>
          <a:prstGeom prst="roundRect">
            <a:avLst/>
          </a:prstGeom>
          <a:solidFill>
            <a:srgbClr val="2D5D9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94192" y="1463040"/>
            <a:ext cx="2889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Mejoras</a:t>
            </a:r>
            <a:endParaRPr lang="es-CL" sz="1250"/>
          </a:p>
        </p:txBody>
      </p:sp>
      <p:sp>
        <p:nvSpPr>
          <p:cNvPr id="20" name="Text 20"/>
          <p:cNvSpPr txBox="1"/>
          <p:nvPr/>
        </p:nvSpPr>
        <p:spPr>
          <a:xfrm>
            <a:off x="8394192" y="1792224"/>
            <a:ext cx="2889504" cy="12435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1E2730"/>
                </a:solidFill>
                <a:latin typeface="Aptos"/>
                <a:ea typeface="Aptos"/>
                <a:cs typeface="Aptos"/>
              </a:rPr>
              <a:t>Aplicar validacion cruzada, revisar sesgos y comparar con modelos no lineales antes de un despliegue.</a:t>
            </a:r>
            <a:endParaRPr lang="es-CL" sz="1040"/>
          </a:p>
        </p:txBody>
      </p:sp>
      <p:sp>
        <p:nvSpPr>
          <p:cNvPr id="21" name="Text 21"/>
          <p:cNvSpPr txBox="1"/>
          <p:nvPr/>
        </p:nvSpPr>
        <p:spPr>
          <a:xfrm>
            <a:off x="1152144" y="3968496"/>
            <a:ext cx="9893808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DD7"/>
            </a:solidFill>
          </a:ln>
        </p:spPr>
        <p:txBody>
          <a:bodyPr wrap="square" anchor="t" lIns="146304" tIns="146304" rIns="146304" bIns="14630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140">
                <a:solidFill>
                  <a:srgbClr val="1E2730"/>
                </a:solidFill>
                <a:latin typeface="Aptos"/>
                <a:ea typeface="Aptos"/>
                <a:cs typeface="Aptos"/>
              </a:rPr>
              <a:t>Fuentes</a:t>
            </a:r>
            <a:endParaRPr lang="es-CL" sz="1140"/>
          </a:p>
          <a:p>
            <a:pPr algn="l">
              <a:spcAft>
                <a:spcPts val="400"/>
              </a:spcAft>
            </a:pPr>
            <a:r>
              <a:rPr lang="es-CL" sz="1140">
                <a:solidFill>
                  <a:srgbClr val="1E2730"/>
                </a:solidFill>
                <a:latin typeface="Aptos"/>
                <a:ea typeface="Aptos"/>
                <a:cs typeface="Aptos"/>
              </a:rPr>
              <a:t>Chapman et al. (2000), CRISP-DM 1.0.</a:t>
            </a:r>
            <a:endParaRPr lang="es-CL" sz="1140"/>
          </a:p>
          <a:p>
            <a:pPr algn="l">
              <a:spcAft>
                <a:spcPts val="400"/>
              </a:spcAft>
            </a:pPr>
            <a:r>
              <a:rPr lang="es-CL" sz="1140">
                <a:solidFill>
                  <a:srgbClr val="1E2730"/>
                </a:solidFill>
                <a:latin typeface="Aptos"/>
                <a:ea typeface="Aptos"/>
                <a:cs typeface="Aptos"/>
              </a:rPr>
              <a:t>Harrison y Rubinfeld (1978), Boston housing.</a:t>
            </a:r>
            <a:endParaRPr lang="es-CL" sz="1140"/>
          </a:p>
          <a:p>
            <a:pPr algn="l">
              <a:spcAft>
                <a:spcPts val="400"/>
              </a:spcAft>
            </a:pPr>
            <a:r>
              <a:rPr lang="es-CL" sz="1140">
                <a:solidFill>
                  <a:srgbClr val="1E2730"/>
                </a:solidFill>
                <a:latin typeface="Aptos"/>
                <a:ea typeface="Aptos"/>
                <a:cs typeface="Aptos"/>
              </a:rPr>
              <a:t>Jolliffe (2002), Principal Component Analysis.</a:t>
            </a:r>
            <a:endParaRPr lang="es-CL" sz="1140"/>
          </a:p>
          <a:p>
            <a:pPr algn="l">
              <a:spcAft>
                <a:spcPts val="400"/>
              </a:spcAft>
            </a:pPr>
            <a:r>
              <a:rPr lang="es-CL" sz="1140">
                <a:solidFill>
                  <a:srgbClr val="1E2730"/>
                </a:solidFill>
                <a:latin typeface="Aptos"/>
                <a:ea typeface="Aptos"/>
                <a:cs typeface="Aptos"/>
              </a:rPr>
              <a:t>Venables y Ripley (2002), MASS.</a:t>
            </a:r>
            <a:endParaRPr lang="es-CL" sz="1140"/>
          </a:p>
          <a:p>
            <a:pPr algn="l">
              <a:spcAft>
                <a:spcPts val="400"/>
              </a:spcAft>
            </a:pPr>
            <a:r>
              <a:rPr lang="es-CL" sz="1140">
                <a:solidFill>
                  <a:srgbClr val="1E2730"/>
                </a:solidFill>
                <a:latin typeface="Aptos"/>
                <a:ea typeface="Aptos"/>
                <a:cs typeface="Aptos"/>
              </a:rPr>
              <a:t>R Core Team (2024), R Project.</a:t>
            </a:r>
            <a:endParaRPr lang="es-CL" sz="1140"/>
          </a:p>
        </p:txBody>
      </p:sp>
      <p:sp>
        <p:nvSpPr>
          <p:cNvPr id="22" name="Text 22"/>
          <p:cNvSpPr txBox="1"/>
          <p:nvPr/>
        </p:nvSpPr>
        <p:spPr>
          <a:xfrm>
            <a:off x="3054096" y="5541264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50">
                <a:solidFill>
                  <a:srgbClr val="65727F"/>
                </a:solidFill>
                <a:latin typeface="Aptos"/>
                <a:ea typeface="Aptos"/>
                <a:cs typeface="Aptos"/>
              </a:rPr>
              <a:t>Presentacion minimalista de apoyo para video de 3,5 a 4 minutos.</a:t>
            </a:r>
            <a:endParaRPr lang="es-CL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04 Minimal">
  <a:themeElements>
    <a:clrScheme name="DI04">
      <a:dk1>
        <a:srgbClr val="10233F"/>
      </a:dk1>
      <a:lt1>
        <a:srgbClr val="F7F5F0"/>
      </a:lt1>
      <a:dk2>
        <a:srgbClr val="1E2730"/>
      </a:dk2>
      <a:lt2>
        <a:srgbClr val="FFFFFF"/>
      </a:lt2>
      <a:accent1>
        <a:srgbClr val="386F6B"/>
      </a:accent1>
      <a:accent2>
        <a:srgbClr val="2D5D9F"/>
      </a:accent2>
      <a:accent3>
        <a:srgbClr val="B8875B"/>
      </a:accent3>
      <a:accent4>
        <a:srgbClr val="9C5B4A"/>
      </a:accent4>
      <a:accent5>
        <a:srgbClr val="65727F"/>
      </a:accent5>
      <a:accent6>
        <a:srgbClr val="D9DDD7"/>
      </a:accent6>
      <a:hlink>
        <a:srgbClr val="2D5D9F"/>
      </a:hlink>
      <a:folHlink>
        <a:srgbClr val="9C5B4A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DI04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OpenCode</Application>
  <PresentationFormat>On-screen Show (16:9)</PresentationFormat>
  <Slides>12</Slides>
  <Notes>0</Notes>
  <HiddenSlides>0</HiddenSlides>
  <MMClips>0</MMClips>
  <ScaleCrop>false</ScaleCrop>
  <Company>Universidad Catolica de Temuco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DI04 - PCA Dataset Boston</dc:title>
  <dc:subject>INFO1184 Inteligencia de Negocios</dc:subject>
  <dc:creator>Vicente Rivera, Juan Munoz, Fernando Valdes</dc:creator>
  <cp:keywords>PCA; CRISP-DM; Boston; INFO1184</cp:keywords>
  <dc:description>Presentacion minimalista profesional basada en TA04.</dc:description>
  <cp:lastModifiedBy>OpenCode</cp:lastModifiedBy>
  <dcterms:created xsi:type="dcterms:W3CDTF">2026-05-11T00:23:32Z</dcterms:created>
  <dcterms:modified xsi:type="dcterms:W3CDTF">2026-05-11T00:23:32Z</dcterms:modified>
</cp:coreProperties>
</file>