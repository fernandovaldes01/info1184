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D8C3F2A1-1127-42F0-99CD-0B05AE54AC5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/>
        <p:txBody>
          <a:bodyPr/>
          <a:p>
            <a:fld id="{C34299F6-443E-4E5F-837E-FA3E91269573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>
              <a:buNone/>
              <a:def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ctr">
              <a:buNone/>
            </a:pPr>
            <a:r>
              <a:rPr lang="en-US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dt" idx="1"/>
          </p:nvPr>
        </p:nvSpPr>
        <p:spPr>
          <a:xfrm>
            <a:off x="50400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2"/>
          </p:nvPr>
        </p:nvSpPr>
        <p:spPr>
          <a:xfrm>
            <a:off x="3447360" y="5165280"/>
            <a:ext cx="319500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sldNum" idx="3"/>
          </p:nvPr>
        </p:nvSpPr>
        <p:spPr>
          <a:xfrm>
            <a:off x="7227360" y="5165280"/>
            <a:ext cx="2348280" cy="390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7E40F8E3-7236-4680-95DA-F5399BFB3637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jpeg"/><Relationship Id="rId2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jpe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3.jpe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4000" y="226080"/>
            <a:ext cx="9071640" cy="946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504000" y="1326600"/>
            <a:ext cx="9071640" cy="3288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F4F6F2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"/>
          <p:cNvSpPr/>
          <p:nvPr/>
        </p:nvSpPr>
        <p:spPr>
          <a:xfrm>
            <a:off x="0" y="0"/>
            <a:ext cx="3888000" cy="5670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"/>
          <p:cNvSpPr/>
          <p:nvPr/>
        </p:nvSpPr>
        <p:spPr>
          <a:xfrm>
            <a:off x="3888000" y="0"/>
            <a:ext cx="180000" cy="5670000"/>
          </a:xfrm>
          <a:prstGeom prst="rect">
            <a:avLst/>
          </a:prstGeom>
          <a:solidFill>
            <a:srgbClr val="9EB8A7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576000" y="576000"/>
            <a:ext cx="2664000" cy="198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000" b="1" u="none" strike="noStrike">
                <a:solidFill>
                  <a:srgbClr val="DDE8E1"/>
                </a:solidFill>
                <a:effectLst/>
                <a:uFillTx/>
                <a:latin typeface="Arial"/>
              </a:rPr>
              <a:t>CASO DE ESTUDIO | ODS 14</a:t>
            </a:r>
            <a:endParaRPr lang="en-US" sz="1000" b="1" u="none" strike="noStrike">
              <a:solidFill>
                <a:srgbClr val="DDE8E1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 txBox="1"/>
          <p:nvPr/>
        </p:nvSpPr>
        <p:spPr>
          <a:xfrm>
            <a:off x="576000" y="1152000"/>
            <a:ext cx="2736000" cy="1438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255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¿Qué nos dice un pingüino cuando el ecosistema costero entra en riesgo?</a:t>
            </a:r>
            <a:endParaRPr lang="en-US" sz="255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576000" y="2808000"/>
            <a:ext cx="2808000" cy="999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400" b="0" u="none" strike="noStrike">
                <a:solidFill>
                  <a:srgbClr val="DDE8E1"/>
                </a:solidFill>
                <a:effectLst/>
                <a:uFillTx/>
                <a:latin typeface="Arial"/>
              </a:rPr>
              <a:t>Tesis: aplicar CRISP-DM permite traducir amenazas ecológicas y humanas en variables, indicadores y decisiones útiles para la conservación.</a:t>
            </a:r>
            <a:endParaRPr lang="en-US" sz="1400" b="0" u="none" strike="noStrike">
              <a:solidFill>
                <a:srgbClr val="DDE8E1"/>
              </a:solidFill>
              <a:effectLst/>
              <a:uFillTx/>
              <a:latin typeface="Arial"/>
            </a:endParaRPr>
          </a:p>
        </p:txBody>
      </p:sp>
      <p:sp>
        <p:nvSpPr>
          <p:cNvPr id="17" name=""/>
          <p:cNvSpPr/>
          <p:nvPr/>
        </p:nvSpPr>
        <p:spPr>
          <a:xfrm>
            <a:off x="576000" y="4032000"/>
            <a:ext cx="2808000" cy="576000"/>
          </a:xfrm>
          <a:prstGeom prst="rect">
            <a:avLst/>
          </a:prstGeom>
          <a:solidFill>
            <a:srgbClr val="9EB8A7"/>
          </a:solidFill>
          <a:ln w="0">
            <a:noFill/>
          </a:ln>
        </p:spPr>
        <p:txBody>
          <a:bodyPr lIns="144000" tIns="90000" rIns="144000" bIns="72000" anchor="ctr" anchorCtr="1">
            <a:noAutofit/>
          </a:bodyPr>
          <a:p>
            <a:r>
              <a:rPr lang="en-US" sz="1150" b="1" u="none" strike="noStrike">
                <a:solidFill>
                  <a:srgbClr val="153329"/>
                </a:solidFill>
                <a:effectLst/>
                <a:uFillTx/>
                <a:latin typeface="Arial"/>
              </a:rPr>
              <a:t>ONU / ODS 14:</a:t>
            </a:r>
            <a:endParaRPr lang="en-US" sz="1150" b="1" u="none" strike="noStrike">
              <a:solidFill>
                <a:srgbClr val="153329"/>
              </a:solidFill>
              <a:effectLst/>
              <a:uFillTx/>
              <a:latin typeface="Arial"/>
            </a:endParaRPr>
          </a:p>
          <a:p>
            <a:r>
              <a:rPr lang="en-US" sz="1150" b="1" u="none" strike="noStrike">
                <a:solidFill>
                  <a:srgbClr val="153329"/>
                </a:solidFill>
                <a:effectLst/>
                <a:uFillTx/>
                <a:latin typeface="Arial"/>
              </a:rPr>
              <a:t>conservar y usar sosteniblemente los océanos y recursos marinos.</a:t>
            </a:r>
            <a:endParaRPr lang="en-US" sz="1150" b="1" u="none" strike="noStrike">
              <a:solidFill>
                <a:srgbClr val="153329"/>
              </a:solidFill>
              <a:effectLst/>
              <a:uFillTx/>
              <a:latin typeface="Arial"/>
            </a:endParaRPr>
          </a:p>
        </p:txBody>
      </p:sp>
      <p:sp>
        <p:nvSpPr>
          <p:cNvPr id="18" name=""/>
          <p:cNvSpPr/>
          <p:nvPr/>
        </p:nvSpPr>
        <p:spPr>
          <a:xfrm>
            <a:off x="4248000" y="648000"/>
            <a:ext cx="5256000" cy="3312000"/>
          </a:xfrm>
          <a:prstGeom prst="rect">
            <a:avLst/>
          </a:prstGeom>
          <a:solidFill>
            <a:srgbClr val="E8E0C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"/>
          <p:cNvPicPr/>
          <p:nvPr/>
        </p:nvPicPr>
        <p:blipFill>
          <a:blip r:embed="rId1"/>
          <a:stretch/>
        </p:blipFill>
        <p:spPr>
          <a:xfrm>
            <a:off x="4375080" y="720000"/>
            <a:ext cx="5001840" cy="316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"/>
          <p:cNvSpPr/>
          <p:nvPr/>
        </p:nvSpPr>
        <p:spPr>
          <a:xfrm>
            <a:off x="4248000" y="4176000"/>
            <a:ext cx="5256000" cy="57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44000" tIns="90000" rIns="144000" bIns="72000" anchor="ctr" anchorCtr="1">
            <a:noAutofit/>
          </a:bodyPr>
          <a:p>
            <a:r>
              <a:rPr lang="en-US" sz="12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Dato de contexto oficial: en Chile, el 20º proceso RCE propuso elevar la especie a En Peligro (MMA, 2025-2026).</a:t>
            </a:r>
            <a:endParaRPr lang="en-US" sz="12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 txBox="1"/>
          <p:nvPr/>
        </p:nvSpPr>
        <p:spPr>
          <a:xfrm>
            <a:off x="4248000" y="4896000"/>
            <a:ext cx="5256000" cy="2700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20" b="0" u="none" strike="noStrike">
                <a:solidFill>
                  <a:srgbClr val="677776"/>
                </a:solidFill>
                <a:effectLst/>
                <a:uFillTx/>
                <a:latin typeface="Arial"/>
              </a:rPr>
              <a:t>Fig. 1. Colonia de pingüinos de Humboldt. Fuente: archivo de imagen provisto en el repositorio de la actividad.</a:t>
            </a:r>
            <a:endParaRPr lang="en-US" sz="920" b="0" u="none" strike="noStrike">
              <a:solidFill>
                <a:srgbClr val="677776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F4F6F2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"/>
          <p:cNvSpPr/>
          <p:nvPr/>
        </p:nvSpPr>
        <p:spPr>
          <a:xfrm>
            <a:off x="0" y="0"/>
            <a:ext cx="10080000" cy="180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0" y="5526000"/>
            <a:ext cx="10080000" cy="72000"/>
          </a:xfrm>
          <a:prstGeom prst="rect">
            <a:avLst/>
          </a:prstGeom>
          <a:solidFill>
            <a:srgbClr val="9EB8A7"/>
          </a:solidFill>
          <a:ln w="0">
            <a:noFill/>
          </a:ln>
        </p:spPr>
        <p:txBody>
          <a:bodyPr lIns="90000" tIns="27000" rIns="90000" bIns="27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576000" y="432000"/>
            <a:ext cx="540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1" u="none" strike="noStrike">
                <a:solidFill>
                  <a:srgbClr val="2D6A6A"/>
                </a:solidFill>
                <a:effectLst/>
                <a:uFillTx/>
                <a:latin typeface="Arial"/>
              </a:rPr>
              <a:t>METODOLOGÍA</a:t>
            </a:r>
            <a:endParaRPr lang="en-US" sz="900" b="1" u="none" strike="noStrike">
              <a:solidFill>
                <a:srgbClr val="2D6A6A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576000" y="720000"/>
            <a:ext cx="756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220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CRISP-DM como marco explícito de trabajo</a:t>
            </a:r>
            <a:endParaRPr lang="en-US" sz="220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 txBox="1"/>
          <p:nvPr/>
        </p:nvSpPr>
        <p:spPr>
          <a:xfrm>
            <a:off x="9108000" y="5274000"/>
            <a:ext cx="432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0" u="none" strike="noStrike">
                <a:solidFill>
                  <a:srgbClr val="677776"/>
                </a:solidFill>
                <a:effectLst/>
                <a:uFillTx/>
                <a:latin typeface="Arial"/>
              </a:rPr>
              <a:t>02</a:t>
            </a:r>
            <a:endParaRPr lang="en-US" sz="900" b="0" u="none" strike="noStrike">
              <a:solidFill>
                <a:srgbClr val="677776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576000" y="1368000"/>
            <a:ext cx="7200000" cy="341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200" b="0" u="none" strike="noStrike">
                <a:solidFill>
                  <a:srgbClr val="677776"/>
                </a:solidFill>
                <a:effectLst/>
                <a:uFillTx/>
                <a:latin typeface="Arial"/>
              </a:rPr>
              <a:t>La actividad exige trabajar formalmente las tres primeras fases. El resto del ciclo queda fuera de alcance, pero se mantiene visible para dar coherencia metodológica.</a:t>
            </a:r>
            <a:endParaRPr lang="en-US" sz="1200" b="0" u="none" strike="noStrike">
              <a:solidFill>
                <a:srgbClr val="677776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576000" y="2304000"/>
            <a:ext cx="1296000" cy="1080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108000" tIns="108000" rIns="108000" bIns="72000" anchor="ctr" anchorCtr="1">
            <a:noAutofit/>
          </a:bodyPr>
          <a:p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1</a:t>
            </a:r>
            <a:endParaRPr lang="en-US" sz="11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Comprensión del negocio</a:t>
            </a:r>
            <a:endParaRPr lang="en-US" sz="11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2088000" y="2304000"/>
            <a:ext cx="1296000" cy="1080000"/>
          </a:xfrm>
          <a:prstGeom prst="rect">
            <a:avLst/>
          </a:prstGeom>
          <a:solidFill>
            <a:srgbClr val="2D6A6A"/>
          </a:solidFill>
          <a:ln w="0">
            <a:noFill/>
          </a:ln>
        </p:spPr>
        <p:txBody>
          <a:bodyPr lIns="108000" tIns="108000" rIns="108000" bIns="72000" anchor="ctr" anchorCtr="1">
            <a:noAutofit/>
          </a:bodyPr>
          <a:p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2</a:t>
            </a:r>
            <a:endParaRPr lang="en-US" sz="11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Comprensión de los datos</a:t>
            </a:r>
            <a:endParaRPr lang="en-US" sz="11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3600000" y="2304000"/>
            <a:ext cx="1296000" cy="1080000"/>
          </a:xfrm>
          <a:prstGeom prst="rect">
            <a:avLst/>
          </a:prstGeom>
          <a:solidFill>
            <a:srgbClr val="88A97C"/>
          </a:solidFill>
          <a:ln w="0">
            <a:noFill/>
          </a:ln>
        </p:spPr>
        <p:txBody>
          <a:bodyPr lIns="108000" tIns="108000" rIns="108000" bIns="72000" anchor="ctr" anchorCtr="1">
            <a:noAutofit/>
          </a:bodyPr>
          <a:p>
            <a:r>
              <a:rPr lang="en-US" sz="1150" b="1" u="none" strike="noStrike">
                <a:solidFill>
                  <a:srgbClr val="153329"/>
                </a:solidFill>
                <a:effectLst/>
                <a:uFillTx/>
                <a:latin typeface="Arial"/>
              </a:rPr>
              <a:t>3</a:t>
            </a:r>
            <a:endParaRPr lang="en-US" sz="1150" b="1" u="none" strike="noStrike">
              <a:solidFill>
                <a:srgbClr val="153329"/>
              </a:solidFill>
              <a:effectLst/>
              <a:uFillTx/>
              <a:latin typeface="Arial"/>
            </a:endParaRPr>
          </a:p>
          <a:p>
            <a:r>
              <a:rPr lang="en-US" sz="1150" b="1" u="none" strike="noStrike">
                <a:solidFill>
                  <a:srgbClr val="153329"/>
                </a:solidFill>
                <a:effectLst/>
                <a:uFillTx/>
                <a:latin typeface="Arial"/>
              </a:rPr>
              <a:t>Preparación de los datos</a:t>
            </a:r>
            <a:endParaRPr lang="en-US" sz="1150" b="1" u="none" strike="noStrike">
              <a:solidFill>
                <a:srgbClr val="153329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5112000" y="2304000"/>
            <a:ext cx="1296000" cy="1080000"/>
          </a:xfrm>
          <a:prstGeom prst="rect">
            <a:avLst/>
          </a:prstGeom>
          <a:solidFill>
            <a:srgbClr val="E8E0CF"/>
          </a:solidFill>
          <a:ln w="0">
            <a:noFill/>
          </a:ln>
        </p:spPr>
        <p:txBody>
          <a:bodyPr lIns="108000" tIns="108000" rIns="108000" bIns="72000" anchor="ctr" anchorCtr="1">
            <a:noAutofit/>
          </a:bodyPr>
          <a:p>
            <a:r>
              <a:rPr lang="en-US" sz="1150" b="1" u="none" strike="noStrike">
                <a:solidFill>
                  <a:srgbClr val="153329"/>
                </a:solidFill>
                <a:effectLst/>
                <a:uFillTx/>
                <a:latin typeface="Arial"/>
              </a:rPr>
              <a:t>4</a:t>
            </a:r>
            <a:endParaRPr lang="en-US" sz="1150" b="1" u="none" strike="noStrike">
              <a:solidFill>
                <a:srgbClr val="153329"/>
              </a:solidFill>
              <a:effectLst/>
              <a:uFillTx/>
              <a:latin typeface="Arial"/>
            </a:endParaRPr>
          </a:p>
          <a:p>
            <a:r>
              <a:rPr lang="en-US" sz="1150" b="1" u="none" strike="noStrike">
                <a:solidFill>
                  <a:srgbClr val="153329"/>
                </a:solidFill>
                <a:effectLst/>
                <a:uFillTx/>
                <a:latin typeface="Arial"/>
              </a:rPr>
              <a:t>Modelado</a:t>
            </a:r>
            <a:endParaRPr lang="en-US" sz="1150" b="1" u="none" strike="noStrike">
              <a:solidFill>
                <a:srgbClr val="153329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6624000" y="2304000"/>
            <a:ext cx="1296000" cy="1080000"/>
          </a:xfrm>
          <a:prstGeom prst="rect">
            <a:avLst/>
          </a:prstGeom>
          <a:solidFill>
            <a:srgbClr val="E8E0CF"/>
          </a:solidFill>
          <a:ln w="0">
            <a:noFill/>
          </a:ln>
        </p:spPr>
        <p:txBody>
          <a:bodyPr lIns="108000" tIns="108000" rIns="108000" bIns="72000" anchor="ctr" anchorCtr="1">
            <a:noAutofit/>
          </a:bodyPr>
          <a:p>
            <a:r>
              <a:rPr lang="en-US" sz="1150" b="1" u="none" strike="noStrike">
                <a:solidFill>
                  <a:srgbClr val="153329"/>
                </a:solidFill>
                <a:effectLst/>
                <a:uFillTx/>
                <a:latin typeface="Arial"/>
              </a:rPr>
              <a:t>5</a:t>
            </a:r>
            <a:endParaRPr lang="en-US" sz="1150" b="1" u="none" strike="noStrike">
              <a:solidFill>
                <a:srgbClr val="153329"/>
              </a:solidFill>
              <a:effectLst/>
              <a:uFillTx/>
              <a:latin typeface="Arial"/>
            </a:endParaRPr>
          </a:p>
          <a:p>
            <a:r>
              <a:rPr lang="en-US" sz="1150" b="1" u="none" strike="noStrike">
                <a:solidFill>
                  <a:srgbClr val="153329"/>
                </a:solidFill>
                <a:effectLst/>
                <a:uFillTx/>
                <a:latin typeface="Arial"/>
              </a:rPr>
              <a:t>Evaluación</a:t>
            </a:r>
            <a:endParaRPr lang="en-US" sz="1150" b="1" u="none" strike="noStrike">
              <a:solidFill>
                <a:srgbClr val="153329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8136000" y="2304000"/>
            <a:ext cx="1296000" cy="1080000"/>
          </a:xfrm>
          <a:prstGeom prst="rect">
            <a:avLst/>
          </a:prstGeom>
          <a:solidFill>
            <a:srgbClr val="E8E0CF"/>
          </a:solidFill>
          <a:ln w="0">
            <a:noFill/>
          </a:ln>
        </p:spPr>
        <p:txBody>
          <a:bodyPr lIns="108000" tIns="108000" rIns="108000" bIns="72000" anchor="ctr" anchorCtr="1">
            <a:noAutofit/>
          </a:bodyPr>
          <a:p>
            <a:r>
              <a:rPr lang="en-US" sz="1150" b="1" u="none" strike="noStrike">
                <a:solidFill>
                  <a:srgbClr val="153329"/>
                </a:solidFill>
                <a:effectLst/>
                <a:uFillTx/>
                <a:latin typeface="Arial"/>
              </a:rPr>
              <a:t>6</a:t>
            </a:r>
            <a:endParaRPr lang="en-US" sz="1150" b="1" u="none" strike="noStrike">
              <a:solidFill>
                <a:srgbClr val="153329"/>
              </a:solidFill>
              <a:effectLst/>
              <a:uFillTx/>
              <a:latin typeface="Arial"/>
            </a:endParaRPr>
          </a:p>
          <a:p>
            <a:r>
              <a:rPr lang="en-US" sz="1150" b="1" u="none" strike="noStrike">
                <a:solidFill>
                  <a:srgbClr val="153329"/>
                </a:solidFill>
                <a:effectLst/>
                <a:uFillTx/>
                <a:latin typeface="Arial"/>
              </a:rPr>
              <a:t>Despliegue</a:t>
            </a:r>
            <a:endParaRPr lang="en-US" sz="1150" b="1" u="none" strike="noStrike">
              <a:solidFill>
                <a:srgbClr val="153329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576000" y="4032000"/>
            <a:ext cx="8928000" cy="648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180000" tIns="144000" rIns="180000" bIns="72000" anchor="ctr" anchorCtr="1">
            <a:noAutofit/>
          </a:bodyPr>
          <a:p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Alcance de esta presentación: problema -&gt; datos -&gt; preparación.</a:t>
            </a:r>
            <a:endParaRPr lang="en-US" sz="140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40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Transición explícita: cada sección siguiente corresponde a una fase CRISP-DM.</a:t>
            </a:r>
            <a:endParaRPr lang="en-US" sz="140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F4F6F2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0" y="0"/>
            <a:ext cx="10080000" cy="180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0" y="5526000"/>
            <a:ext cx="10080000" cy="72000"/>
          </a:xfrm>
          <a:prstGeom prst="rect">
            <a:avLst/>
          </a:prstGeom>
          <a:solidFill>
            <a:srgbClr val="9EB8A7"/>
          </a:solidFill>
          <a:ln w="0">
            <a:noFill/>
          </a:ln>
        </p:spPr>
        <p:txBody>
          <a:bodyPr lIns="90000" tIns="27000" rIns="90000" bIns="27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576000" y="432000"/>
            <a:ext cx="540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1" u="none" strike="noStrike">
                <a:solidFill>
                  <a:srgbClr val="2D6A6A"/>
                </a:solidFill>
                <a:effectLst/>
                <a:uFillTx/>
                <a:latin typeface="Arial"/>
              </a:rPr>
              <a:t>FASE 1 | COMPRENSIÓN DEL NEGOCIO</a:t>
            </a:r>
            <a:endParaRPr lang="en-US" sz="900" b="1" u="none" strike="noStrike">
              <a:solidFill>
                <a:srgbClr val="2D6A6A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576000" y="720000"/>
            <a:ext cx="756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220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Problema, contexto ONU y proposición de trabajo</a:t>
            </a:r>
            <a:endParaRPr lang="en-US" sz="220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"/>
          <p:cNvSpPr txBox="1"/>
          <p:nvPr/>
        </p:nvSpPr>
        <p:spPr>
          <a:xfrm>
            <a:off x="9108000" y="5274000"/>
            <a:ext cx="432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0" u="none" strike="noStrike">
                <a:solidFill>
                  <a:srgbClr val="677776"/>
                </a:solidFill>
                <a:effectLst/>
                <a:uFillTx/>
                <a:latin typeface="Arial"/>
              </a:rPr>
              <a:t>03</a:t>
            </a:r>
            <a:endParaRPr lang="en-US" sz="900" b="0" u="none" strike="noStrike">
              <a:solidFill>
                <a:srgbClr val="677776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576000" y="1512000"/>
            <a:ext cx="4032000" cy="93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576000" y="1512000"/>
            <a:ext cx="4032000" cy="144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"/>
          <p:cNvSpPr txBox="1"/>
          <p:nvPr/>
        </p:nvSpPr>
        <p:spPr>
          <a:xfrm>
            <a:off x="684000" y="1728000"/>
            <a:ext cx="3816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Problema central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 txBox="1"/>
          <p:nvPr/>
        </p:nvSpPr>
        <p:spPr>
          <a:xfrm>
            <a:off x="684000" y="2016000"/>
            <a:ext cx="3816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12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La presión humana y los cambios ambientales deterioran una especie centinela del ecosistema costero.</a:t>
            </a:r>
            <a:endParaRPr lang="en-US" sz="112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576000" y="2592000"/>
            <a:ext cx="4032000" cy="93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576000" y="2592000"/>
            <a:ext cx="4032000" cy="144000"/>
          </a:xfrm>
          <a:prstGeom prst="rect">
            <a:avLst/>
          </a:prstGeom>
          <a:solidFill>
            <a:srgbClr val="2D6A6A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 txBox="1"/>
          <p:nvPr/>
        </p:nvSpPr>
        <p:spPr>
          <a:xfrm>
            <a:off x="684000" y="2808000"/>
            <a:ext cx="3816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Marco ONU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684000" y="3096000"/>
            <a:ext cx="3816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12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El caso se conecta directamente con el ODS 14: proteger océanos, recursos marinos y ecosistemas costeros.</a:t>
            </a:r>
            <a:endParaRPr lang="en-US" sz="112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576000" y="3672000"/>
            <a:ext cx="4032000" cy="1080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576000" y="3672000"/>
            <a:ext cx="4032000" cy="144000"/>
          </a:xfrm>
          <a:prstGeom prst="rect">
            <a:avLst/>
          </a:prstGeom>
          <a:solidFill>
            <a:srgbClr val="88A97C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 txBox="1"/>
          <p:nvPr/>
        </p:nvSpPr>
        <p:spPr>
          <a:xfrm>
            <a:off x="684000" y="3888000"/>
            <a:ext cx="3816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Pregunta y tesis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684000" y="4176000"/>
            <a:ext cx="3816000" cy="6094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07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Pregunta: ¿qué factores explican el deterioro del estado de conservación?</a:t>
            </a:r>
            <a:endParaRPr lang="en-US" sz="107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07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Tesis: un dataset bien diseñado permite priorizar riesgos y acciones.</a:t>
            </a:r>
            <a:endParaRPr lang="en-US" sz="107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5400000" y="1584000"/>
            <a:ext cx="2520000" cy="2664000"/>
          </a:xfrm>
          <a:prstGeom prst="rect">
            <a:avLst/>
          </a:prstGeom>
          <a:solidFill>
            <a:srgbClr val="E8E0C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55" name=""/>
          <p:cNvPicPr/>
          <p:nvPr/>
        </p:nvPicPr>
        <p:blipFill>
          <a:blip r:embed="rId1"/>
          <a:stretch/>
        </p:blipFill>
        <p:spPr>
          <a:xfrm>
            <a:off x="5665320" y="1674000"/>
            <a:ext cx="1989000" cy="2484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" name=""/>
          <p:cNvSpPr/>
          <p:nvPr/>
        </p:nvSpPr>
        <p:spPr>
          <a:xfrm>
            <a:off x="8064000" y="1584000"/>
            <a:ext cx="1440000" cy="93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08000" tIns="108000" rIns="108000" bIns="72000" anchor="ctr" anchorCtr="1">
            <a:noAutofit/>
          </a:bodyPr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Stakeholders: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MMA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CONAF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SERNAPESCA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ciencia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comunidades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turismo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8064000" y="2736000"/>
            <a:ext cx="1440000" cy="100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08000" tIns="108000" rIns="108000" bIns="72000" anchor="ctr" anchorCtr="1">
            <a:noAutofit/>
          </a:bodyPr>
          <a:p>
            <a:r>
              <a:rPr lang="en-US" sz="102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Salida esperada de la fase:</a:t>
            </a:r>
            <a:endParaRPr lang="en-US" sz="102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02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una definición clara del problema analítico y de las decisiones que la evidencia debe apoyar.</a:t>
            </a:r>
            <a:endParaRPr lang="en-US" sz="102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5400000" y="4356000"/>
            <a:ext cx="4104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20" b="0" u="none" strike="noStrike">
                <a:solidFill>
                  <a:srgbClr val="677776"/>
                </a:solidFill>
                <a:effectLst/>
                <a:uFillTx/>
                <a:latin typeface="Arial"/>
              </a:rPr>
              <a:t>Fig. 2. Pingüinos de Humboldt adultos. Fuente: archivo de imagen provisto en el repositorio de la actividad.</a:t>
            </a:r>
            <a:endParaRPr lang="en-US" sz="920" b="0" u="none" strike="noStrike">
              <a:solidFill>
                <a:srgbClr val="677776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F4F6F2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0" y="0"/>
            <a:ext cx="10080000" cy="180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0" y="5526000"/>
            <a:ext cx="10080000" cy="72000"/>
          </a:xfrm>
          <a:prstGeom prst="rect">
            <a:avLst/>
          </a:prstGeom>
          <a:solidFill>
            <a:srgbClr val="9EB8A7"/>
          </a:solidFill>
          <a:ln w="0">
            <a:noFill/>
          </a:ln>
        </p:spPr>
        <p:txBody>
          <a:bodyPr lIns="90000" tIns="27000" rIns="90000" bIns="27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 txBox="1"/>
          <p:nvPr/>
        </p:nvSpPr>
        <p:spPr>
          <a:xfrm>
            <a:off x="576000" y="432000"/>
            <a:ext cx="540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1" u="none" strike="noStrike">
                <a:solidFill>
                  <a:srgbClr val="2D6A6A"/>
                </a:solidFill>
                <a:effectLst/>
                <a:uFillTx/>
                <a:latin typeface="Arial"/>
              </a:rPr>
              <a:t>FASE 2 | COMPRENSIÓN DE LOS DATOS</a:t>
            </a:r>
            <a:endParaRPr lang="en-US" sz="900" b="1" u="none" strike="noStrike">
              <a:solidFill>
                <a:srgbClr val="2D6A6A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 txBox="1"/>
          <p:nvPr/>
        </p:nvSpPr>
        <p:spPr>
          <a:xfrm>
            <a:off x="576000" y="720000"/>
            <a:ext cx="756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220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Qué dataset se necesita y qué variables lo componen</a:t>
            </a:r>
            <a:endParaRPr lang="en-US" sz="220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 txBox="1"/>
          <p:nvPr/>
        </p:nvSpPr>
        <p:spPr>
          <a:xfrm>
            <a:off x="9108000" y="5274000"/>
            <a:ext cx="432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0" u="none" strike="noStrike">
                <a:solidFill>
                  <a:srgbClr val="677776"/>
                </a:solidFill>
                <a:effectLst/>
                <a:uFillTx/>
                <a:latin typeface="Arial"/>
              </a:rPr>
              <a:t>04</a:t>
            </a:r>
            <a:endParaRPr lang="en-US" sz="900" b="0" u="none" strike="noStrike">
              <a:solidFill>
                <a:srgbClr val="677776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 txBox="1"/>
          <p:nvPr/>
        </p:nvSpPr>
        <p:spPr>
          <a:xfrm>
            <a:off x="576000" y="1368000"/>
            <a:ext cx="6840000" cy="3416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200" b="0" u="none" strike="noStrike">
                <a:solidFill>
                  <a:srgbClr val="677776"/>
                </a:solidFill>
                <a:effectLst/>
                <a:uFillTx/>
                <a:latin typeface="Arial"/>
              </a:rPr>
              <a:t>En esta fase se identifican las fuentes potenciales, las variables relevantes y los indicadores que representarán el estado de la especie.</a:t>
            </a:r>
            <a:endParaRPr lang="en-US" sz="1200" b="0" u="none" strike="noStrike">
              <a:solidFill>
                <a:srgbClr val="677776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576000" y="1944000"/>
            <a:ext cx="1656000" cy="165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576000" y="1944000"/>
            <a:ext cx="1656000" cy="144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684000" y="2160000"/>
            <a:ext cx="144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Hábitat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684000" y="2448000"/>
            <a:ext cx="1440000" cy="44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colonias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ubicación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región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2376000" y="1944000"/>
            <a:ext cx="1656000" cy="165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2376000" y="1944000"/>
            <a:ext cx="1656000" cy="144000"/>
          </a:xfrm>
          <a:prstGeom prst="rect">
            <a:avLst/>
          </a:prstGeom>
          <a:solidFill>
            <a:srgbClr val="2D6A6A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2484000" y="2160000"/>
            <a:ext cx="144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Reproducción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2484000" y="2448000"/>
            <a:ext cx="1440000" cy="44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nidos activos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parejas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éxito reproductivo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176000" y="1944000"/>
            <a:ext cx="1656000" cy="165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4176000" y="1944000"/>
            <a:ext cx="1656000" cy="144000"/>
          </a:xfrm>
          <a:prstGeom prst="rect">
            <a:avLst/>
          </a:prstGeom>
          <a:solidFill>
            <a:srgbClr val="88A97C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 txBox="1"/>
          <p:nvPr/>
        </p:nvSpPr>
        <p:spPr>
          <a:xfrm>
            <a:off x="4284000" y="2160000"/>
            <a:ext cx="144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Alimentación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 txBox="1"/>
          <p:nvPr/>
        </p:nvSpPr>
        <p:spPr>
          <a:xfrm>
            <a:off x="4284000" y="2448000"/>
            <a:ext cx="1440000" cy="44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presa dominante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sardina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anchoveta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5976000" y="1944000"/>
            <a:ext cx="1656000" cy="165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5976000" y="1944000"/>
            <a:ext cx="1656000" cy="144000"/>
          </a:xfrm>
          <a:prstGeom prst="rect">
            <a:avLst/>
          </a:prstGeom>
          <a:solidFill>
            <a:srgbClr val="9EB8A7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 txBox="1"/>
          <p:nvPr/>
        </p:nvSpPr>
        <p:spPr>
          <a:xfrm>
            <a:off x="6084000" y="2160000"/>
            <a:ext cx="144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Salud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 txBox="1"/>
          <p:nvPr/>
        </p:nvSpPr>
        <p:spPr>
          <a:xfrm>
            <a:off x="6084000" y="2448000"/>
            <a:ext cx="1440000" cy="44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parásitos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enfermedades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datos faltantes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7776000" y="1944000"/>
            <a:ext cx="1656000" cy="165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7776000" y="1944000"/>
            <a:ext cx="1656000" cy="144000"/>
          </a:xfrm>
          <a:prstGeom prst="rect">
            <a:avLst/>
          </a:prstGeom>
          <a:solidFill>
            <a:srgbClr val="153329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 txBox="1"/>
          <p:nvPr/>
        </p:nvSpPr>
        <p:spPr>
          <a:xfrm>
            <a:off x="7884000" y="2160000"/>
            <a:ext cx="144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Amenazas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7884000" y="2448000"/>
            <a:ext cx="1440000" cy="592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pesca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basura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turismo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05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El Niño</a:t>
            </a:r>
            <a:endParaRPr lang="en-US" sz="105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576000" y="3960000"/>
            <a:ext cx="4248000" cy="720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44000" tIns="108000" rIns="144000" bIns="72000" anchor="ctr" anchorCtr="1">
            <a:noAutofit/>
          </a:bodyPr>
          <a:p>
            <a:r>
              <a:rPr lang="en-US" sz="1150" b="1" u="none" strike="noStrike">
                <a:solidFill>
                  <a:srgbClr val="153329"/>
                </a:solidFill>
                <a:effectLst/>
                <a:uFillTx/>
                <a:latin typeface="Arial"/>
              </a:rPr>
              <a:t>Lenguaje técnico de la fase:</a:t>
            </a:r>
            <a:endParaRPr lang="en-US" sz="1150" b="1" u="none" strike="noStrike">
              <a:solidFill>
                <a:srgbClr val="153329"/>
              </a:solidFill>
              <a:effectLst/>
              <a:uFillTx/>
              <a:latin typeface="Arial"/>
            </a:endParaRPr>
          </a:p>
          <a:p>
            <a:r>
              <a:rPr lang="en-US" sz="1150" b="1" u="none" strike="noStrike">
                <a:solidFill>
                  <a:srgbClr val="153329"/>
                </a:solidFill>
                <a:effectLst/>
                <a:uFillTx/>
                <a:latin typeface="Arial"/>
              </a:rPr>
              <a:t>dataset, variables explicativas, variable objetivo, indicadores y calidad de datos.</a:t>
            </a:r>
            <a:endParaRPr lang="en-US" sz="1150" b="1" u="none" strike="noStrike">
              <a:solidFill>
                <a:srgbClr val="153329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5256000" y="3960000"/>
            <a:ext cx="4248000" cy="720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144000" tIns="108000" rIns="144000" bIns="72000" anchor="ctr" anchorCtr="1">
            <a:noAutofit/>
          </a:bodyPr>
          <a:p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Transición a la siguiente fase:</a:t>
            </a:r>
            <a:endParaRPr lang="en-US" sz="11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5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una vez entendidas las variables, se define cómo estandarizarlas y prepararlas para análisis.</a:t>
            </a:r>
            <a:endParaRPr lang="en-US" sz="115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F4F6F2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0" y="0"/>
            <a:ext cx="10080000" cy="180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0" y="5526000"/>
            <a:ext cx="10080000" cy="72000"/>
          </a:xfrm>
          <a:prstGeom prst="rect">
            <a:avLst/>
          </a:prstGeom>
          <a:solidFill>
            <a:srgbClr val="9EB8A7"/>
          </a:solidFill>
          <a:ln w="0">
            <a:noFill/>
          </a:ln>
        </p:spPr>
        <p:txBody>
          <a:bodyPr lIns="90000" tIns="27000" rIns="90000" bIns="27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576000" y="432000"/>
            <a:ext cx="540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1" u="none" strike="noStrike">
                <a:solidFill>
                  <a:srgbClr val="2D6A6A"/>
                </a:solidFill>
                <a:effectLst/>
                <a:uFillTx/>
                <a:latin typeface="Arial"/>
              </a:rPr>
              <a:t>FASE 3 | PREPARACIÓN DE LOS DATOS</a:t>
            </a:r>
            <a:endParaRPr lang="en-US" sz="900" b="1" u="none" strike="noStrike">
              <a:solidFill>
                <a:srgbClr val="2D6A6A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576000" y="720000"/>
            <a:ext cx="756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220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Del registro ecológico a un dataset consistente</a:t>
            </a:r>
            <a:endParaRPr lang="en-US" sz="220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9108000" y="5274000"/>
            <a:ext cx="432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0" u="none" strike="noStrike">
                <a:solidFill>
                  <a:srgbClr val="677776"/>
                </a:solidFill>
                <a:effectLst/>
                <a:uFillTx/>
                <a:latin typeface="Arial"/>
              </a:rPr>
              <a:t>05</a:t>
            </a:r>
            <a:endParaRPr lang="en-US" sz="900" b="0" u="none" strike="noStrike">
              <a:solidFill>
                <a:srgbClr val="677776"/>
              </a:solidFill>
              <a:effectLst/>
              <a:uFillTx/>
              <a:latin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576000" y="1512000"/>
            <a:ext cx="432000" cy="576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108000" tIns="72000" rIns="108000" bIns="72000" anchor="ctr" anchorCtr="1">
            <a:noAutofit/>
          </a:bodyPr>
          <a:p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1</a:t>
            </a:r>
            <a:endParaRPr lang="en-US" sz="18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5" name=""/>
          <p:cNvSpPr/>
          <p:nvPr/>
        </p:nvSpPr>
        <p:spPr>
          <a:xfrm>
            <a:off x="1116000" y="1512000"/>
            <a:ext cx="2088000" cy="57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44000" tIns="90000" rIns="144000" bIns="72000" anchor="ctr" anchorCtr="1">
            <a:noAutofit/>
          </a:bodyPr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Estandarizar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colonias, regiones y fechas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576000" y="2196000"/>
            <a:ext cx="432000" cy="576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108000" tIns="72000" rIns="108000" bIns="72000" anchor="ctr" anchorCtr="1">
            <a:noAutofit/>
          </a:bodyPr>
          <a:p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2</a:t>
            </a:r>
            <a:endParaRPr lang="en-US" sz="18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"/>
          <p:cNvSpPr/>
          <p:nvPr/>
        </p:nvSpPr>
        <p:spPr>
          <a:xfrm>
            <a:off x="1116000" y="2196000"/>
            <a:ext cx="2088000" cy="57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44000" tIns="90000" rIns="144000" bIns="72000" anchor="ctr" anchorCtr="1">
            <a:noAutofit/>
          </a:bodyPr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Definir unidad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dataset tipo colonia + año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576000" y="2880000"/>
            <a:ext cx="432000" cy="576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108000" tIns="72000" rIns="108000" bIns="72000" anchor="ctr" anchorCtr="1">
            <a:noAutofit/>
          </a:bodyPr>
          <a:p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3</a:t>
            </a:r>
            <a:endParaRPr lang="en-US" sz="18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1116000" y="2880000"/>
            <a:ext cx="2088000" cy="57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44000" tIns="90000" rIns="144000" bIns="72000" anchor="ctr" anchorCtr="1">
            <a:noAutofit/>
          </a:bodyPr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Crear variables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nidos activos, dieta, amenazas, ambiente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576000" y="3564000"/>
            <a:ext cx="432000" cy="576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108000" tIns="72000" rIns="108000" bIns="72000" anchor="ctr" anchorCtr="1">
            <a:noAutofit/>
          </a:bodyPr>
          <a:p>
            <a:r>
              <a:rPr lang="en-US" sz="18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4</a:t>
            </a:r>
            <a:endParaRPr lang="en-US" sz="18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1116000" y="3564000"/>
            <a:ext cx="2088000" cy="57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44000" tIns="90000" rIns="144000" bIns="72000" anchor="ctr" anchorCtr="1">
            <a:noAutofit/>
          </a:bodyPr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Construir indicadores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100" b="1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presión humana y calidad del hábitat</a:t>
            </a:r>
            <a:endParaRPr lang="en-US" sz="1100" b="1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3672000" y="1512000"/>
            <a:ext cx="5832000" cy="792000"/>
          </a:xfrm>
          <a:prstGeom prst="rect">
            <a:avLst/>
          </a:prstGeom>
          <a:solidFill>
            <a:srgbClr val="E8E0CF"/>
          </a:solidFill>
          <a:ln w="0">
            <a:noFill/>
          </a:ln>
        </p:spPr>
        <p:txBody>
          <a:bodyPr lIns="180000" tIns="108000" rIns="144000" bIns="72000" anchor="ctr" anchorCtr="1">
            <a:noAutofit/>
          </a:bodyPr>
          <a:p>
            <a:r>
              <a:rPr lang="en-US" sz="1700" b="1" u="none" strike="noStrike">
                <a:solidFill>
                  <a:srgbClr val="153329"/>
                </a:solidFill>
                <a:effectLst/>
                <a:uFillTx/>
                <a:latin typeface="Times New Roman"/>
              </a:rPr>
              <a:t>Ejemplo de estructura del dataset</a:t>
            </a:r>
            <a:endParaRPr lang="en-US" sz="1700" b="1" u="none" strike="noStrike">
              <a:solidFill>
                <a:srgbClr val="153329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/>
          <p:nvPr/>
        </p:nvSpPr>
        <p:spPr>
          <a:xfrm>
            <a:off x="3672000" y="2448000"/>
            <a:ext cx="5832000" cy="1152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80000" tIns="144000" rIns="180000" bIns="108000" anchor="ctr" anchorCtr="1">
            <a:noAutofit/>
          </a:bodyPr>
          <a:p>
            <a:r>
              <a:rPr lang="en-US" sz="12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colonia | año | nidos activos | dieta dominante | amenaza pesca | amenaza basura | indicador presión humana | condición El Niño</a:t>
            </a:r>
            <a:endParaRPr lang="en-US" sz="12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3672000" y="3816000"/>
            <a:ext cx="5832000" cy="720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180000" tIns="108000" rIns="180000" bIns="72000" anchor="ctr" anchorCtr="1">
            <a:noAutofit/>
          </a:bodyPr>
          <a:p>
            <a:r>
              <a:rPr lang="en-US" sz="118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Criterio técnico clave:</a:t>
            </a:r>
            <a:endParaRPr lang="en-US" sz="118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18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tratar faltantes en salud y agrupar amenazas para hacer comparables las colonias.</a:t>
            </a:r>
            <a:endParaRPr lang="en-US" sz="118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F4F6F2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0" y="0"/>
            <a:ext cx="10080000" cy="180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0" y="5526000"/>
            <a:ext cx="10080000" cy="72000"/>
          </a:xfrm>
          <a:prstGeom prst="rect">
            <a:avLst/>
          </a:prstGeom>
          <a:solidFill>
            <a:srgbClr val="9EB8A7"/>
          </a:solidFill>
          <a:ln w="0">
            <a:noFill/>
          </a:ln>
        </p:spPr>
        <p:txBody>
          <a:bodyPr lIns="90000" tIns="27000" rIns="90000" bIns="27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576000" y="432000"/>
            <a:ext cx="540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1" u="none" strike="noStrike">
                <a:solidFill>
                  <a:srgbClr val="2D6A6A"/>
                </a:solidFill>
                <a:effectLst/>
                <a:uFillTx/>
                <a:latin typeface="Arial"/>
              </a:rPr>
              <a:t>EVIDENCIA Y EJEMPLOS</a:t>
            </a:r>
            <a:endParaRPr lang="en-US" sz="900" b="1" u="none" strike="noStrike">
              <a:solidFill>
                <a:srgbClr val="2D6A6A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 txBox="1"/>
          <p:nvPr/>
        </p:nvSpPr>
        <p:spPr>
          <a:xfrm>
            <a:off x="576000" y="720000"/>
            <a:ext cx="756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220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Datos oficiales y observables concretos del caso</a:t>
            </a:r>
            <a:endParaRPr lang="en-US" sz="220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"/>
          <p:cNvSpPr txBox="1"/>
          <p:nvPr/>
        </p:nvSpPr>
        <p:spPr>
          <a:xfrm>
            <a:off x="9108000" y="5274000"/>
            <a:ext cx="432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0" u="none" strike="noStrike">
                <a:solidFill>
                  <a:srgbClr val="677776"/>
                </a:solidFill>
                <a:effectLst/>
                <a:uFillTx/>
                <a:latin typeface="Arial"/>
              </a:rPr>
              <a:t>06</a:t>
            </a:r>
            <a:endParaRPr lang="en-US" sz="900" b="0" u="none" strike="noStrike">
              <a:solidFill>
                <a:srgbClr val="677776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576000" y="1584000"/>
            <a:ext cx="2736000" cy="129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576000" y="1584000"/>
            <a:ext cx="2736000" cy="144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 txBox="1"/>
          <p:nvPr/>
        </p:nvSpPr>
        <p:spPr>
          <a:xfrm>
            <a:off x="684000" y="1800000"/>
            <a:ext cx="252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RCE Chile 2025-2026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 txBox="1"/>
          <p:nvPr/>
        </p:nvSpPr>
        <p:spPr>
          <a:xfrm>
            <a:off x="684000" y="2088000"/>
            <a:ext cx="252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1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La ficha final del 20º proceso clasifica la especie como En Peligro (EN).</a:t>
            </a:r>
            <a:endParaRPr lang="en-US" sz="11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3672000" y="1584000"/>
            <a:ext cx="2736000" cy="129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3672000" y="1584000"/>
            <a:ext cx="2736000" cy="144000"/>
          </a:xfrm>
          <a:prstGeom prst="rect">
            <a:avLst/>
          </a:prstGeom>
          <a:solidFill>
            <a:srgbClr val="2D6A6A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3780000" y="1800000"/>
            <a:ext cx="252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Dato poblacional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3780000" y="2088000"/>
            <a:ext cx="2520000" cy="457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07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Se reporta una disminución de 50% entre 2017 y 2021 en parejas reproductivas de principales colonias.</a:t>
            </a:r>
            <a:endParaRPr lang="en-US" sz="107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6768000" y="1584000"/>
            <a:ext cx="2736000" cy="129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6768000" y="1584000"/>
            <a:ext cx="2736000" cy="144000"/>
          </a:xfrm>
          <a:prstGeom prst="rect">
            <a:avLst/>
          </a:prstGeom>
          <a:solidFill>
            <a:srgbClr val="88A97C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 txBox="1"/>
          <p:nvPr/>
        </p:nvSpPr>
        <p:spPr>
          <a:xfrm>
            <a:off x="6876000" y="1800000"/>
            <a:ext cx="252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Distribución confirmada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122" name=""/>
          <p:cNvSpPr txBox="1"/>
          <p:nvPr/>
        </p:nvSpPr>
        <p:spPr>
          <a:xfrm>
            <a:off x="6876000" y="2088000"/>
            <a:ext cx="252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1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En Chile se ha confirmado nidificación en al menos 48 colonias.</a:t>
            </a:r>
            <a:endParaRPr lang="en-US" sz="11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576000" y="3312000"/>
            <a:ext cx="8928000" cy="648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44000" tIns="108000" rIns="144000" bIns="72000" anchor="ctr" anchorCtr="1">
            <a:noAutofit/>
          </a:bodyPr>
          <a:p>
            <a:r>
              <a:rPr lang="en-US" sz="1260" b="1" u="none" strike="noStrike">
                <a:solidFill>
                  <a:srgbClr val="153329"/>
                </a:solidFill>
                <a:effectLst/>
                <a:uFillTx/>
                <a:latin typeface="Arial"/>
              </a:rPr>
              <a:t>Amenazas documentadas oficialmente:</a:t>
            </a:r>
            <a:endParaRPr lang="en-US" sz="1260" b="1" u="none" strike="noStrike">
              <a:solidFill>
                <a:srgbClr val="153329"/>
              </a:solidFill>
              <a:effectLst/>
              <a:uFillTx/>
              <a:latin typeface="Arial"/>
            </a:endParaRPr>
          </a:p>
          <a:p>
            <a:r>
              <a:rPr lang="en-US" sz="1260" b="1" u="none" strike="noStrike">
                <a:solidFill>
                  <a:srgbClr val="153329"/>
                </a:solidFill>
                <a:effectLst/>
                <a:uFillTx/>
                <a:latin typeface="Arial"/>
              </a:rPr>
              <a:t>pesquerías, disminución del alimento, perturbación humana en colonias y cambio climático.</a:t>
            </a:r>
            <a:endParaRPr lang="en-US" sz="1260" b="1" u="none" strike="noStrike">
              <a:solidFill>
                <a:srgbClr val="153329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576000" y="4176000"/>
            <a:ext cx="8928000" cy="648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144000" tIns="108000" rIns="144000" bIns="72000" anchor="ctr" anchorCtr="1">
            <a:noAutofit/>
          </a:bodyPr>
          <a:p>
            <a:r>
              <a:rPr lang="en-US" sz="126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Ejemplo de indicador analítico:</a:t>
            </a:r>
            <a:endParaRPr lang="en-US" sz="126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r>
              <a:rPr lang="en-US" sz="126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presión humana = pesca incidental + basura marina + perturbación turística observada en una colonia.</a:t>
            </a:r>
            <a:endParaRPr lang="en-US" sz="126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F4F6F2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0" y="0"/>
            <a:ext cx="10080000" cy="180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0" y="5526000"/>
            <a:ext cx="10080000" cy="72000"/>
          </a:xfrm>
          <a:prstGeom prst="rect">
            <a:avLst/>
          </a:prstGeom>
          <a:solidFill>
            <a:srgbClr val="9EB8A7"/>
          </a:solidFill>
          <a:ln w="0">
            <a:noFill/>
          </a:ln>
        </p:spPr>
        <p:txBody>
          <a:bodyPr lIns="90000" tIns="27000" rIns="90000" bIns="27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576000" y="432000"/>
            <a:ext cx="540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1" u="none" strike="noStrike">
                <a:solidFill>
                  <a:srgbClr val="2D6A6A"/>
                </a:solidFill>
                <a:effectLst/>
                <a:uFillTx/>
                <a:latin typeface="Arial"/>
              </a:rPr>
              <a:t>SALIDA ANALÍTICA</a:t>
            </a:r>
            <a:endParaRPr lang="en-US" sz="900" b="1" u="none" strike="noStrike">
              <a:solidFill>
                <a:srgbClr val="2D6A6A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576000" y="720000"/>
            <a:ext cx="756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220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Cómo el dataset responde la pregunta del negocio</a:t>
            </a:r>
            <a:endParaRPr lang="en-US" sz="220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9108000" y="5274000"/>
            <a:ext cx="432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0" u="none" strike="noStrike">
                <a:solidFill>
                  <a:srgbClr val="677776"/>
                </a:solidFill>
                <a:effectLst/>
                <a:uFillTx/>
                <a:latin typeface="Arial"/>
              </a:rPr>
              <a:t>07</a:t>
            </a:r>
            <a:endParaRPr lang="en-US" sz="900" b="0" u="none" strike="noStrike">
              <a:solidFill>
                <a:srgbClr val="677776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576000" y="1656000"/>
            <a:ext cx="4104000" cy="2520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576000" y="1656000"/>
            <a:ext cx="4104000" cy="144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684000" y="1872000"/>
            <a:ext cx="3888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Relaciones a evaluar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684000" y="2160000"/>
            <a:ext cx="3888000" cy="68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2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• alimento -&gt; reproducción</a:t>
            </a:r>
            <a:endParaRPr lang="en-US" sz="12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• amenazas -&gt; éxito reproductivo</a:t>
            </a:r>
            <a:endParaRPr lang="en-US" sz="12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• El Niño -&gt; disponibilidad marina</a:t>
            </a:r>
            <a:endParaRPr lang="en-US" sz="12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• presión humana -&gt; vulnerabilidad por colonia</a:t>
            </a:r>
            <a:endParaRPr lang="en-US" sz="12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5328000" y="1656000"/>
            <a:ext cx="4176000" cy="2520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5328000" y="1656000"/>
            <a:ext cx="4176000" cy="144000"/>
          </a:xfrm>
          <a:prstGeom prst="rect">
            <a:avLst/>
          </a:prstGeom>
          <a:solidFill>
            <a:srgbClr val="2D6A6A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 txBox="1"/>
          <p:nvPr/>
        </p:nvSpPr>
        <p:spPr>
          <a:xfrm>
            <a:off x="5436000" y="1872000"/>
            <a:ext cx="396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Decisiones que habilita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138" name=""/>
          <p:cNvSpPr txBox="1"/>
          <p:nvPr/>
        </p:nvSpPr>
        <p:spPr>
          <a:xfrm>
            <a:off x="5436000" y="2160000"/>
            <a:ext cx="3960000" cy="682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2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• priorizar colonias críticas</a:t>
            </a:r>
            <a:endParaRPr lang="en-US" sz="12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• orientar monitoreo</a:t>
            </a:r>
            <a:endParaRPr lang="en-US" sz="12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• justificar medidas de conservación</a:t>
            </a:r>
            <a:endParaRPr lang="en-US" sz="12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  <a:p>
            <a:r>
              <a:rPr lang="en-US" sz="12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• comunicar riesgos con evidencia</a:t>
            </a:r>
            <a:endParaRPr lang="en-US" sz="12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576000" y="4464000"/>
            <a:ext cx="8928000" cy="648000"/>
          </a:xfrm>
          <a:prstGeom prst="rect">
            <a:avLst/>
          </a:prstGeom>
          <a:solidFill>
            <a:srgbClr val="153329"/>
          </a:solidFill>
          <a:ln w="0">
            <a:noFill/>
          </a:ln>
        </p:spPr>
        <p:txBody>
          <a:bodyPr lIns="180000" tIns="144000" rIns="180000" bIns="72000" anchor="ctr" anchorCtr="1">
            <a:noAutofit/>
          </a:bodyPr>
          <a:p>
            <a:r>
              <a:rPr lang="en-US" sz="1380" b="1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Conclusión metodológica: la presentación no se limita a describir la especie; muestra cómo convertir un problema ambiental en un problema analítico estructurado.</a:t>
            </a:r>
            <a:endParaRPr lang="en-US" sz="1380" b="1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0" y="5526000"/>
            <a:ext cx="10080000" cy="72000"/>
          </a:xfrm>
          <a:prstGeom prst="rect">
            <a:avLst/>
          </a:prstGeom>
          <a:solidFill>
            <a:srgbClr val="9EB8A7"/>
          </a:solidFill>
          <a:ln w="0">
            <a:noFill/>
          </a:ln>
        </p:spPr>
        <p:txBody>
          <a:bodyPr lIns="90000" tIns="27000" rIns="90000" bIns="27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576000" y="648000"/>
            <a:ext cx="432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1" u="none" strike="noStrike">
                <a:solidFill>
                  <a:srgbClr val="DDE8E1"/>
                </a:solidFill>
                <a:effectLst/>
                <a:uFillTx/>
                <a:latin typeface="Arial"/>
              </a:rPr>
              <a:t>CIERRE</a:t>
            </a:r>
            <a:endParaRPr lang="en-US" sz="900" b="1" u="none" strike="noStrike">
              <a:solidFill>
                <a:srgbClr val="DDE8E1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576000" y="1224000"/>
            <a:ext cx="4392000" cy="1348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Times New Roman"/>
              </a:rPr>
              <a:t>El pingüino de Humboldt funciona como indicador del equilibrio entre salud marina y presión humana.</a:t>
            </a:r>
            <a:endParaRPr lang="en-US" sz="2400" b="1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44" name=""/>
          <p:cNvSpPr txBox="1"/>
          <p:nvPr/>
        </p:nvSpPr>
        <p:spPr>
          <a:xfrm>
            <a:off x="576000" y="3024000"/>
            <a:ext cx="4392000" cy="563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0" u="none" strike="noStrike">
                <a:solidFill>
                  <a:srgbClr val="DDE8E1"/>
                </a:solidFill>
                <a:effectLst/>
                <a:uFillTx/>
                <a:latin typeface="Arial"/>
              </a:rPr>
              <a:t>Por eso, el enfoque CRISP-DM ayuda a ordenar la evidencia y a convertirla en conservación basada en datos.</a:t>
            </a:r>
            <a:endParaRPr lang="en-US" sz="1320" b="0" u="none" strike="noStrike">
              <a:solidFill>
                <a:srgbClr val="DDE8E1"/>
              </a:solidFill>
              <a:effectLst/>
              <a:uFillTx/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5904000" y="1008000"/>
            <a:ext cx="3600000" cy="2448000"/>
          </a:xfrm>
          <a:prstGeom prst="rect">
            <a:avLst/>
          </a:prstGeom>
          <a:solidFill>
            <a:srgbClr val="E8E0C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6" name=""/>
          <p:cNvPicPr/>
          <p:nvPr/>
        </p:nvPicPr>
        <p:blipFill>
          <a:blip r:embed="rId1"/>
          <a:stretch/>
        </p:blipFill>
        <p:spPr>
          <a:xfrm>
            <a:off x="6015240" y="1098000"/>
            <a:ext cx="3377160" cy="2268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"/>
          <p:cNvSpPr txBox="1"/>
          <p:nvPr/>
        </p:nvSpPr>
        <p:spPr>
          <a:xfrm>
            <a:off x="5904000" y="3600000"/>
            <a:ext cx="360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20" b="0" u="none" strike="noStrike">
                <a:solidFill>
                  <a:srgbClr val="677776"/>
                </a:solidFill>
                <a:effectLst/>
                <a:uFillTx/>
                <a:latin typeface="Arial"/>
              </a:rPr>
              <a:t>Fig. 3. Pingüinos de Humboldt. Fuente: archivo de imagen provisto en el repositorio de la actividad.</a:t>
            </a:r>
            <a:endParaRPr lang="en-US" sz="920" b="0" u="none" strike="noStrike">
              <a:solidFill>
                <a:srgbClr val="677776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576000" y="4140000"/>
            <a:ext cx="2808000" cy="93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576000" y="4140000"/>
            <a:ext cx="2808000" cy="144000"/>
          </a:xfrm>
          <a:prstGeom prst="rect">
            <a:avLst/>
          </a:prstGeom>
          <a:solidFill>
            <a:srgbClr val="9EB8A7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684000" y="4356000"/>
            <a:ext cx="2592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Amenaza prioritaria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684000" y="4644000"/>
            <a:ext cx="2592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01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Pesca y pérdida de alimento aparecen como variables críticas.</a:t>
            </a:r>
            <a:endParaRPr lang="en-US" sz="101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3636000" y="4140000"/>
            <a:ext cx="2808000" cy="93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3636000" y="4140000"/>
            <a:ext cx="2808000" cy="144000"/>
          </a:xfrm>
          <a:prstGeom prst="rect">
            <a:avLst/>
          </a:prstGeom>
          <a:solidFill>
            <a:srgbClr val="2D6A6A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 txBox="1"/>
          <p:nvPr/>
        </p:nvSpPr>
        <p:spPr>
          <a:xfrm>
            <a:off x="3744000" y="4356000"/>
            <a:ext cx="2592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Indicador clave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3744000" y="4644000"/>
            <a:ext cx="2592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01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La reproducción y los nidos activos son el mejor termómetro del sistema.</a:t>
            </a:r>
            <a:endParaRPr lang="en-US" sz="101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6696000" y="4140000"/>
            <a:ext cx="2808000" cy="936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6696000" y="4140000"/>
            <a:ext cx="2808000" cy="144000"/>
          </a:xfrm>
          <a:prstGeom prst="rect">
            <a:avLst/>
          </a:prstGeom>
          <a:solidFill>
            <a:srgbClr val="88A97C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"/>
          <p:cNvSpPr txBox="1"/>
          <p:nvPr/>
        </p:nvSpPr>
        <p:spPr>
          <a:xfrm>
            <a:off x="6804000" y="4356000"/>
            <a:ext cx="2592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32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Sentido académico</a:t>
            </a:r>
            <a:endParaRPr lang="en-US" sz="132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159" name=""/>
          <p:cNvSpPr txBox="1"/>
          <p:nvPr/>
        </p:nvSpPr>
        <p:spPr>
          <a:xfrm>
            <a:off x="6804000" y="4644000"/>
            <a:ext cx="2592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01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La presentación cumple fases CRISP-DM y deja una tesis explícita.</a:t>
            </a:r>
            <a:endParaRPr lang="en-US" sz="101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 txBox="1"/>
          <p:nvPr/>
        </p:nvSpPr>
        <p:spPr>
          <a:xfrm>
            <a:off x="9108000" y="5274000"/>
            <a:ext cx="432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0" u="none" strike="noStrike">
                <a:solidFill>
                  <a:srgbClr val="677776"/>
                </a:solidFill>
                <a:effectLst/>
                <a:uFillTx/>
                <a:latin typeface="Arial"/>
              </a:rPr>
              <a:t>08</a:t>
            </a:r>
            <a:endParaRPr lang="en-US" sz="900" b="0" u="none" strike="noStrike">
              <a:solidFill>
                <a:srgbClr val="677776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"/>
          <p:cNvSpPr/>
          <p:nvPr/>
        </p:nvSpPr>
        <p:spPr>
          <a:xfrm>
            <a:off x="0" y="0"/>
            <a:ext cx="10080000" cy="5670000"/>
          </a:xfrm>
          <a:prstGeom prst="rect">
            <a:avLst/>
          </a:prstGeom>
          <a:solidFill>
            <a:srgbClr val="F4F6F2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0" y="0"/>
            <a:ext cx="10080000" cy="180000"/>
          </a:xfrm>
          <a:prstGeom prst="rect">
            <a:avLst/>
          </a:prstGeom>
          <a:solidFill>
            <a:srgbClr val="1F4D3E"/>
          </a:solidFill>
          <a:ln w="0">
            <a:noFill/>
          </a:ln>
        </p:spPr>
        <p:txBody>
          <a:bodyPr lIns="90000" tIns="45000" rIns="90000" bIns="45000" anchor="ctr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0" y="5526000"/>
            <a:ext cx="10080000" cy="72000"/>
          </a:xfrm>
          <a:prstGeom prst="rect">
            <a:avLst/>
          </a:prstGeom>
          <a:solidFill>
            <a:srgbClr val="9EB8A7"/>
          </a:solidFill>
          <a:ln w="0">
            <a:noFill/>
          </a:ln>
        </p:spPr>
        <p:txBody>
          <a:bodyPr lIns="90000" tIns="27000" rIns="90000" bIns="27000" anchor="ctr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 txBox="1"/>
          <p:nvPr/>
        </p:nvSpPr>
        <p:spPr>
          <a:xfrm>
            <a:off x="576000" y="432000"/>
            <a:ext cx="540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1" u="none" strike="noStrike">
                <a:solidFill>
                  <a:srgbClr val="2D6A6A"/>
                </a:solidFill>
                <a:effectLst/>
                <a:uFillTx/>
                <a:latin typeface="Arial"/>
              </a:rPr>
              <a:t>BIBLIOGRAFÍA Y FUENTES</a:t>
            </a:r>
            <a:endParaRPr lang="en-US" sz="900" b="1" u="none" strike="noStrike">
              <a:solidFill>
                <a:srgbClr val="2D6A6A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 txBox="1"/>
          <p:nvPr/>
        </p:nvSpPr>
        <p:spPr>
          <a:xfrm>
            <a:off x="576000" y="720000"/>
            <a:ext cx="7560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2200" b="1" u="none" strike="noStrike">
                <a:solidFill>
                  <a:srgbClr val="1F4D3E"/>
                </a:solidFill>
                <a:effectLst/>
                <a:uFillTx/>
                <a:latin typeface="Times New Roman"/>
              </a:rPr>
              <a:t>Referencias académicas y fuentes oficiales utilizadas</a:t>
            </a:r>
            <a:endParaRPr lang="en-US" sz="2200" b="1" u="none" strike="noStrike">
              <a:solidFill>
                <a:srgbClr val="1F4D3E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9108000" y="5274000"/>
            <a:ext cx="432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900" b="0" u="none" strike="noStrike">
                <a:solidFill>
                  <a:srgbClr val="677776"/>
                </a:solidFill>
                <a:effectLst/>
                <a:uFillTx/>
                <a:latin typeface="Arial"/>
              </a:rPr>
              <a:t>09</a:t>
            </a:r>
            <a:endParaRPr lang="en-US" sz="900" b="0" u="none" strike="noStrike">
              <a:solidFill>
                <a:srgbClr val="677776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576000" y="1512000"/>
            <a:ext cx="8928000" cy="432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44000" tIns="100800" rIns="144000" bIns="72000" anchor="ctr" anchorCtr="1">
            <a:noAutofit/>
          </a:bodyPr>
          <a:p>
            <a:r>
              <a:rPr lang="en-US" sz="11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1. Naciones Unidas. Goal 14 / Life Below Water. https://sdgs.un.org/goals/goal14</a:t>
            </a:r>
            <a:endParaRPr lang="en-US" sz="11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68" name=""/>
          <p:cNvSpPr/>
          <p:nvPr/>
        </p:nvSpPr>
        <p:spPr>
          <a:xfrm>
            <a:off x="576000" y="2088000"/>
            <a:ext cx="8928000" cy="432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44000" tIns="100800" rIns="144000" bIns="72000" anchor="ctr" anchorCtr="1">
            <a:noAutofit/>
          </a:bodyPr>
          <a:p>
            <a:r>
              <a:rPr lang="en-US" sz="11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2. Ministerio del Medio Ambiente de Chile (2026). Consejo de Ministros declara al pingüino de Humboldt como Monumento Natural.</a:t>
            </a:r>
            <a:endParaRPr lang="en-US" sz="11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576000" y="2664000"/>
            <a:ext cx="8928000" cy="432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44000" tIns="100800" rIns="144000" bIns="72000" anchor="ctr" anchorCtr="1">
            <a:noAutofit/>
          </a:bodyPr>
          <a:p>
            <a:r>
              <a:rPr lang="en-US" sz="11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3. Ministerio del Medio Ambiente de Chile (2025). Ficha final 20º RCE: Spheniscus humboldti.</a:t>
            </a:r>
            <a:endParaRPr lang="en-US" sz="11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576000" y="3240000"/>
            <a:ext cx="8928000" cy="432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44000" tIns="100800" rIns="144000" bIns="72000" anchor="ctr" anchorCtr="1">
            <a:noAutofit/>
          </a:bodyPr>
          <a:p>
            <a:r>
              <a:rPr lang="en-US" sz="11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4. Ministerio del Medio Ambiente de Chile (2023). Plan RECOGE para proteger al pingüino de Humboldt.</a:t>
            </a:r>
            <a:endParaRPr lang="en-US" sz="11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576000" y="3816000"/>
            <a:ext cx="8928000" cy="432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44000" tIns="100800" rIns="144000" bIns="72000" anchor="ctr" anchorCtr="1">
            <a:noAutofit/>
          </a:bodyPr>
          <a:p>
            <a:r>
              <a:rPr lang="en-US" sz="11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5. CONAF. Reserva Nacional Pingüino de Humboldt.</a:t>
            </a:r>
            <a:endParaRPr lang="en-US" sz="11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576000" y="4392000"/>
            <a:ext cx="8928000" cy="432000"/>
          </a:xfrm>
          <a:prstGeom prst="rect">
            <a:avLst/>
          </a:prstGeom>
          <a:solidFill>
            <a:srgbClr val="FFFFFF"/>
          </a:solidFill>
          <a:ln w="0">
            <a:noFill/>
          </a:ln>
        </p:spPr>
        <p:txBody>
          <a:bodyPr lIns="144000" tIns="100800" rIns="144000" bIns="72000" anchor="ctr" anchorCtr="1">
            <a:noAutofit/>
          </a:bodyPr>
          <a:p>
            <a:r>
              <a:rPr lang="en-US" sz="1100" b="0" u="none" strike="noStrike">
                <a:solidFill>
                  <a:srgbClr val="233033"/>
                </a:solidFill>
                <a:effectLst/>
                <a:uFillTx/>
                <a:latin typeface="Arial"/>
              </a:rPr>
              <a:t>6. Material visual (Fig. 1-Fig. 3): archivos de imagen provistos en el repositorio de la actividad.</a:t>
            </a:r>
            <a:endParaRPr lang="en-US" sz="1100" b="0" u="none" strike="noStrike">
              <a:solidFill>
                <a:srgbClr val="233033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 txBox="1"/>
          <p:nvPr/>
        </p:nvSpPr>
        <p:spPr>
          <a:xfrm>
            <a:off x="576000" y="4896000"/>
            <a:ext cx="8928000" cy="33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spAutoFit/>
          </a:bodyPr>
          <a:p>
            <a:r>
              <a:rPr lang="en-US" sz="1000" b="0" u="none" strike="noStrike">
                <a:solidFill>
                  <a:srgbClr val="677776"/>
                </a:solidFill>
                <a:effectLst/>
                <a:uFillTx/>
                <a:latin typeface="Arial"/>
              </a:rPr>
              <a:t>Nota: el contexto ONU se integra mediante ODS 14; la actualización de conservación en Chile se apoya en fuentes MMA 2025-2026.</a:t>
            </a:r>
            <a:endParaRPr lang="en-US" sz="1000" b="0" u="none" strike="noStrike">
              <a:solidFill>
                <a:srgbClr val="677776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LibreOffice/26.2.1.2$Linux_X86_64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2026-03-30T11:08:22Z</dcterms:created>
  <dc:creator/>
  <dc:description/>
  <dc:language>en-US</dc:language>
  <cp:lastModifiedBy/>
  <dcterms:modified xsi:type="dcterms:W3CDTF">2026-03-30T11:08:25Z</dcterms:modified>
  <cp:revision>1</cp:revision>
  <dc:subject/>
  <dc:title/>
</cp:coreProperties>
</file>