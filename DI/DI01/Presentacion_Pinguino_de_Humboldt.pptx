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2564C7-4A73-4254-8587-566B6F6406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F99A6E-C427-42A6-A9B0-9C6563E0D9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F54DC68-037B-416D-8EBB-2C246D967F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6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3744000" cy="567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744000" y="0"/>
            <a:ext cx="216000" cy="5670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648000"/>
            <a:ext cx="2520000" cy="28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00" b="1" u="none" strike="noStrike">
                <a:solidFill>
                  <a:srgbClr val="DDE8E1"/>
                </a:solidFill>
                <a:effectLst/>
                <a:uFillTx/>
                <a:latin typeface="Arial"/>
              </a:rPr>
              <a:t>ANALISIS DE DATOS PARA CONSERVACION</a:t>
            </a:r>
            <a:endParaRPr lang="en-US" sz="1000" b="1" u="none" strike="noStrike">
              <a:solidFill>
                <a:srgbClr val="DDE8E1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76000" y="1296000"/>
            <a:ext cx="2592000" cy="11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Pingüino</a:t>
            </a:r>
            <a:endParaRPr lang="en-US" sz="2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de Humboldt</a:t>
            </a:r>
            <a:endParaRPr lang="en-US" sz="2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76000" y="2952000"/>
            <a:ext cx="2736000" cy="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550" b="0" u="none" strike="noStrike">
                <a:solidFill>
                  <a:srgbClr val="DDE8E1"/>
                </a:solidFill>
                <a:effectLst/>
                <a:uFillTx/>
                <a:latin typeface="Arial"/>
              </a:rPr>
              <a:t>Factores ambientales y humanos que explican su estado de conservación.</a:t>
            </a:r>
            <a:endParaRPr lang="en-US" sz="1550" b="0" u="none" strike="noStrike">
              <a:solidFill>
                <a:srgbClr val="DDE8E1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76000" y="4248000"/>
            <a:ext cx="2088000" cy="360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108000" tIns="72000" rIns="108000" bIns="72000" anchor="ctr" anchorCtr="1">
            <a:noAutofit/>
          </a:bodyPr>
          <a:p>
            <a:r>
              <a:rPr lang="en-US" sz="1000" b="1" u="none" strike="noStrike">
                <a:solidFill>
                  <a:srgbClr val="153329"/>
                </a:solidFill>
                <a:effectLst/>
                <a:uFillTx/>
                <a:latin typeface="Arial"/>
              </a:rPr>
              <a:t>Especie marina vulnerable</a:t>
            </a:r>
            <a:endParaRPr lang="en-US" sz="1000" b="1" u="none" strike="noStrike">
              <a:solidFill>
                <a:srgbClr val="153329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76000" y="4788000"/>
            <a:ext cx="2736000" cy="41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Indicador clave del estado del ecosistema costero de Chile y Perú.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176000" y="792000"/>
            <a:ext cx="5328000" cy="3456000"/>
          </a:xfrm>
          <a:prstGeom prst="rect">
            <a:avLst/>
          </a:prstGeom>
          <a:solidFill>
            <a:srgbClr val="E8E0C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4248000" y="878400"/>
            <a:ext cx="5184000" cy="328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4176000" y="4464000"/>
            <a:ext cx="5328000" cy="432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144000" tIns="90000" rIns="144000" bIns="72000" anchor="ctr" anchorCtr="1">
            <a:noAutofit/>
          </a:bodyPr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Enfoque: comprender el equilibrio entre factores naturales y presión humana.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6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0" y="5526000"/>
            <a:ext cx="10080000" cy="72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27000" rIns="90000" bIns="27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76000" y="432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1" u="none" strike="noStrike">
                <a:solidFill>
                  <a:srgbClr val="2D6A6A"/>
                </a:solidFill>
                <a:effectLst/>
                <a:uFillTx/>
                <a:latin typeface="Arial"/>
              </a:rPr>
              <a:t>1. OBJETO DE ESTUDIO</a:t>
            </a:r>
            <a:endParaRPr lang="en-US" sz="900" b="1" u="none" strike="noStrike">
              <a:solidFill>
                <a:srgbClr val="2D6A6A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76000" y="720000"/>
            <a:ext cx="68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20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El pingüino de Humboldt como indicador ecológico</a:t>
            </a:r>
            <a:endParaRPr lang="en-US" sz="220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9108000" y="5274000"/>
            <a:ext cx="4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02</a:t>
            </a:r>
            <a:endParaRPr lang="en-US" sz="9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76000" y="1368000"/>
            <a:ext cx="1440000" cy="360000"/>
          </a:xfrm>
          <a:prstGeom prst="rect">
            <a:avLst/>
          </a:prstGeom>
          <a:solidFill>
            <a:srgbClr val="DDE8E1"/>
          </a:solidFill>
          <a:ln w="0">
            <a:noFill/>
          </a:ln>
        </p:spPr>
        <p:txBody>
          <a:bodyPr lIns="108000" tIns="72000" rIns="108000" bIns="72000" anchor="ctr" anchorCtr="1">
            <a:noAutofit/>
          </a:bodyPr>
          <a:p>
            <a:r>
              <a:rPr lang="en-US" sz="1000" b="1" u="none" strike="noStrike">
                <a:solidFill>
                  <a:srgbClr val="1F4D3E"/>
                </a:solidFill>
                <a:effectLst/>
                <a:uFillTx/>
                <a:latin typeface="Arial"/>
              </a:rPr>
              <a:t>Contexto base</a:t>
            </a:r>
            <a:endParaRPr lang="en-US" sz="1000" b="1" u="none" strike="noStrike">
              <a:solidFill>
                <a:srgbClr val="1F4D3E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76000" y="1908000"/>
            <a:ext cx="4176000" cy="105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5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Habita la corriente de Humboldt entre Chile y Perú.</a:t>
            </a:r>
            <a:endParaRPr lang="en-US" sz="15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Vive en costas rocosas e islas.</a:t>
            </a:r>
            <a:endParaRPr lang="en-US" sz="15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Depende fuertemente del ecosistema marino.</a:t>
            </a:r>
            <a:endParaRPr lang="en-US" sz="15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Su estado de conservación es vulnerable.</a:t>
            </a:r>
            <a:endParaRPr lang="en-US" sz="15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76000" y="3960000"/>
            <a:ext cx="4248000" cy="864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80000" tIns="144000" rIns="180000" bIns="108000" anchor="ctr" anchorCtr="1">
            <a:noAutofit/>
          </a:bodyPr>
          <a:p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es solo una especie emblemática: su estado refleja la salud del ecosistema costero.</a:t>
            </a:r>
            <a:endParaRPr lang="en-US" sz="1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688000" y="1368000"/>
            <a:ext cx="864000" cy="360000"/>
          </a:xfrm>
          <a:prstGeom prst="rect">
            <a:avLst/>
          </a:prstGeom>
          <a:solidFill>
            <a:srgbClr val="E8E0CF"/>
          </a:solidFill>
          <a:ln w="0">
            <a:noFill/>
          </a:ln>
        </p:spPr>
        <p:txBody>
          <a:bodyPr lIns="108000" tIns="72000" rIns="108000" bIns="72000" anchor="ctr" anchorCtr="1">
            <a:noAutofit/>
          </a:bodyPr>
          <a:p>
            <a:r>
              <a:rPr lang="en-US" sz="1000" b="1" u="none" strike="noStrike">
                <a:solidFill>
                  <a:srgbClr val="153329"/>
                </a:solidFill>
                <a:effectLst/>
                <a:uFillTx/>
                <a:latin typeface="Arial"/>
              </a:rPr>
              <a:t>Vulnerable</a:t>
            </a:r>
            <a:endParaRPr lang="en-US" sz="1000" b="1" u="none" strike="noStrike">
              <a:solidFill>
                <a:srgbClr val="153329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616000" y="1728000"/>
            <a:ext cx="3312000" cy="3240000"/>
          </a:xfrm>
          <a:prstGeom prst="rect">
            <a:avLst/>
          </a:prstGeom>
          <a:solidFill>
            <a:srgbClr val="E8E0C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6046920" y="1818000"/>
            <a:ext cx="2450160" cy="30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 txBox="1"/>
          <p:nvPr/>
        </p:nvSpPr>
        <p:spPr>
          <a:xfrm>
            <a:off x="5616000" y="5076000"/>
            <a:ext cx="331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5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Objeto de estudio: una especie centinela de la costa pacífica sur.</a:t>
            </a:r>
            <a:endParaRPr lang="en-US" sz="105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6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0" y="5526000"/>
            <a:ext cx="10080000" cy="72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27000" rIns="90000" bIns="27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76000" y="432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1" u="none" strike="noStrike">
                <a:solidFill>
                  <a:srgbClr val="2D6A6A"/>
                </a:solidFill>
                <a:effectLst/>
                <a:uFillTx/>
                <a:latin typeface="Arial"/>
              </a:rPr>
              <a:t>2. PROBLEMA</a:t>
            </a:r>
            <a:endParaRPr lang="en-US" sz="900" b="1" u="none" strike="noStrike">
              <a:solidFill>
                <a:srgbClr val="2D6A6A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76000" y="720000"/>
            <a:ext cx="68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20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Comprensión del negocio y propósito del análisis</a:t>
            </a:r>
            <a:endParaRPr lang="en-US" sz="220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9108000" y="5274000"/>
            <a:ext cx="4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03</a:t>
            </a:r>
            <a:endParaRPr lang="en-US" sz="9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76000" y="1512000"/>
            <a:ext cx="1944000" cy="93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76000" y="1512000"/>
            <a:ext cx="1944000" cy="144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4000" y="1728000"/>
            <a:ext cx="1728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Pesca incidental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84000" y="2016000"/>
            <a:ext cx="1728000" cy="4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Captura no intencional que compromete la supervivencia.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664000" y="1512000"/>
            <a:ext cx="1944000" cy="93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664000" y="1512000"/>
            <a:ext cx="1944000" cy="144000"/>
          </a:xfrm>
          <a:prstGeom prst="rect">
            <a:avLst/>
          </a:prstGeom>
          <a:solidFill>
            <a:srgbClr val="2D6A6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772000" y="1728000"/>
            <a:ext cx="1728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Basura marina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772000" y="2016000"/>
            <a:ext cx="1728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Plásticos y redes alteran hábitat y movilidad.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76000" y="2592000"/>
            <a:ext cx="1944000" cy="93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76000" y="2592000"/>
            <a:ext cx="1944000" cy="144000"/>
          </a:xfrm>
          <a:prstGeom prst="rect">
            <a:avLst/>
          </a:prstGeom>
          <a:solidFill>
            <a:srgbClr val="88A97C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84000" y="2808000"/>
            <a:ext cx="1728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Turismo no regulado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84000" y="3096000"/>
            <a:ext cx="1728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Interfiere con colonias y sitios de nidificación.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664000" y="2592000"/>
            <a:ext cx="1944000" cy="93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664000" y="2592000"/>
            <a:ext cx="1944000" cy="144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772000" y="2808000"/>
            <a:ext cx="1728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Cambio climático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772000" y="3096000"/>
            <a:ext cx="1728000" cy="4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El Niño altera alimento, reproducción y estabilidad.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184000" y="1512000"/>
            <a:ext cx="4320000" cy="1008000"/>
          </a:xfrm>
          <a:prstGeom prst="rect">
            <a:avLst/>
          </a:prstGeom>
          <a:solidFill>
            <a:srgbClr val="E8E0CF"/>
          </a:solidFill>
          <a:ln w="0">
            <a:noFill/>
          </a:ln>
        </p:spPr>
        <p:txBody>
          <a:bodyPr lIns="180000" tIns="144000" rIns="180000" bIns="108000" anchor="ctr" anchorCtr="1">
            <a:noAutofit/>
          </a:bodyPr>
          <a:p>
            <a:r>
              <a:rPr lang="en-US" sz="1650" b="1" u="none" strike="noStrike">
                <a:solidFill>
                  <a:srgbClr val="153329"/>
                </a:solidFill>
                <a:effectLst/>
                <a:uFillTx/>
                <a:latin typeface="Times New Roman"/>
              </a:rPr>
              <a:t>Pregunta central:</a:t>
            </a:r>
            <a:endParaRPr lang="en-US" sz="1650" b="1" u="none" strike="noStrike">
              <a:solidFill>
                <a:srgbClr val="153329"/>
              </a:solidFill>
              <a:effectLst/>
              <a:uFillTx/>
              <a:latin typeface="Times New Roman"/>
            </a:endParaRPr>
          </a:p>
          <a:p>
            <a:r>
              <a:rPr lang="en-US" sz="1650" b="1" u="none" strike="noStrike">
                <a:solidFill>
                  <a:srgbClr val="153329"/>
                </a:solidFill>
                <a:effectLst/>
                <a:uFillTx/>
                <a:latin typeface="Times New Roman"/>
              </a:rPr>
              <a:t>¿Qué factores explican el estado de conservación del pingüino de Humboldt?</a:t>
            </a:r>
            <a:endParaRPr lang="en-US" sz="1650" b="1" u="none" strike="noStrike">
              <a:solidFill>
                <a:srgbClr val="153329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184000" y="2736000"/>
            <a:ext cx="4320000" cy="1008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80000" tIns="144000" rIns="180000" bIns="108000" anchor="ctr" anchorCtr="1">
            <a:noAutofit/>
          </a:bodyPr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Objetivo: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Analizar variables ambientales y humanas para entender su impacto en la especie.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184000" y="4032000"/>
            <a:ext cx="4320000" cy="720000"/>
          </a:xfrm>
          <a:prstGeom prst="rect">
            <a:avLst/>
          </a:prstGeom>
          <a:solidFill>
            <a:srgbClr val="DDE8E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/>
          <p:cNvPicPr/>
          <p:nvPr/>
        </p:nvPicPr>
        <p:blipFill>
          <a:blip r:embed="rId1"/>
          <a:stretch/>
        </p:blipFill>
        <p:spPr>
          <a:xfrm>
            <a:off x="6727680" y="4068000"/>
            <a:ext cx="123228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"/>
          <p:cNvSpPr txBox="1"/>
          <p:nvPr/>
        </p:nvSpPr>
        <p:spPr>
          <a:xfrm>
            <a:off x="5184000" y="4896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5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Estas amenazas afectan la reproducción, la disponibilidad de alimento y la supervivencia.</a:t>
            </a:r>
            <a:endParaRPr lang="en-US" sz="105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6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0" y="5526000"/>
            <a:ext cx="10080000" cy="72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27000" rIns="90000" bIns="27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76000" y="432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1" u="none" strike="noStrike">
                <a:solidFill>
                  <a:srgbClr val="2D6A6A"/>
                </a:solidFill>
                <a:effectLst/>
                <a:uFillTx/>
                <a:latin typeface="Arial"/>
              </a:rPr>
              <a:t>3. BIOLOGÍA DE LA ESPECIE</a:t>
            </a:r>
            <a:endParaRPr lang="en-US" sz="900" b="1" u="none" strike="noStrike">
              <a:solidFill>
                <a:srgbClr val="2D6A6A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76000" y="720000"/>
            <a:ext cx="68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20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Variables biológicas que sostienen el análisis</a:t>
            </a:r>
            <a:endParaRPr lang="en-US" sz="220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108000" y="5274000"/>
            <a:ext cx="4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04</a:t>
            </a:r>
            <a:endParaRPr lang="en-US" sz="9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76000" y="1512000"/>
            <a:ext cx="4248000" cy="122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76000" y="1512000"/>
            <a:ext cx="4248000" cy="144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84000" y="1728000"/>
            <a:ext cx="40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Reproducción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4000" y="2016000"/>
            <a:ext cx="4032000" cy="4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Nidificación en cuevas o guano.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Cerca de 2 huevos por nidada.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Ambos padres participan y dependen del ambiente.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256000" y="1512000"/>
            <a:ext cx="4248000" cy="122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256000" y="1512000"/>
            <a:ext cx="4248000" cy="144000"/>
          </a:xfrm>
          <a:prstGeom prst="rect">
            <a:avLst/>
          </a:prstGeom>
          <a:solidFill>
            <a:srgbClr val="2D6A6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364000" y="1728000"/>
            <a:ext cx="40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Alimentación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364000" y="2016000"/>
            <a:ext cx="4032000" cy="4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Peces como anchoveta y sardina.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También cefalópodos y crustáceos.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La disponibilidad marina determina su éxito.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76000" y="3024000"/>
            <a:ext cx="4248000" cy="122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76000" y="3024000"/>
            <a:ext cx="4248000" cy="144000"/>
          </a:xfrm>
          <a:prstGeom prst="rect">
            <a:avLst/>
          </a:prstGeom>
          <a:solidFill>
            <a:srgbClr val="88A97C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84000" y="3240000"/>
            <a:ext cx="40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Salud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84000" y="3528000"/>
            <a:ext cx="4032000" cy="4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Parásitos y enfermedades como malaria aviar.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Existe menor disponibilidad de datos.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Es una dimensión con más incertidumbre.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256000" y="3024000"/>
            <a:ext cx="4248000" cy="122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256000" y="3024000"/>
            <a:ext cx="4248000" cy="144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364000" y="3240000"/>
            <a:ext cx="40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Hábitat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364000" y="3528000"/>
            <a:ext cx="4032000" cy="4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Colonias distribuidas en la costa Chile-Perú.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Alta fidelidad a sitios de nidificación.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5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La localización condiciona su vulnerabilidad.</a:t>
            </a:r>
            <a:endParaRPr lang="en-US" sz="115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76000" y="4536000"/>
            <a:ext cx="8928000" cy="50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144000" tIns="108000" rIns="144000" bIns="72000" anchor="ctr" anchorCtr="1">
            <a:noAutofit/>
          </a:bodyPr>
          <a:p>
            <a:r>
              <a:rPr lang="en-US" sz="1250" b="1" u="none" strike="noStrike">
                <a:solidFill>
                  <a:srgbClr val="153329"/>
                </a:solidFill>
                <a:effectLst/>
                <a:uFillTx/>
                <a:latin typeface="Arial"/>
              </a:rPr>
              <a:t>Estas cuatro dimensiones justifican por qué el análisis debe vincular reproducción, alimento, salud y hábitat.</a:t>
            </a:r>
            <a:endParaRPr lang="en-US" sz="1250" b="1" u="none" strike="noStrike">
              <a:solidFill>
                <a:srgbClr val="1533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6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0" y="5526000"/>
            <a:ext cx="10080000" cy="72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27000" rIns="90000" bIns="27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76000" y="432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1" u="none" strike="noStrike">
                <a:solidFill>
                  <a:srgbClr val="2D6A6A"/>
                </a:solidFill>
                <a:effectLst/>
                <a:uFillTx/>
                <a:latin typeface="Arial"/>
              </a:rPr>
              <a:t>4. COMPRENSIÓN DE LOS DATOS</a:t>
            </a:r>
            <a:endParaRPr lang="en-US" sz="900" b="1" u="none" strike="noStrike">
              <a:solidFill>
                <a:srgbClr val="2D6A6A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76000" y="720000"/>
            <a:ext cx="68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20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Cinco dimensiones para organizar la evidencia</a:t>
            </a:r>
            <a:endParaRPr lang="en-US" sz="220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9108000" y="5274000"/>
            <a:ext cx="4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05</a:t>
            </a:r>
            <a:endParaRPr lang="en-US" sz="9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76000" y="1332000"/>
            <a:ext cx="648000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2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La información puede estructurarse en una vista integrada del sistema ecológico y sus amenazas.</a:t>
            </a:r>
            <a:endParaRPr lang="en-US" sz="12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76000" y="1872000"/>
            <a:ext cx="1656000" cy="19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76000" y="1872000"/>
            <a:ext cx="1656000" cy="144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84000" y="2088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Hábitat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84000" y="2376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8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Colonias, ubicación y región.</a:t>
            </a:r>
            <a:endParaRPr lang="en-US" sz="108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2376000" y="1872000"/>
            <a:ext cx="1656000" cy="19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376000" y="1872000"/>
            <a:ext cx="1656000" cy="144000"/>
          </a:xfrm>
          <a:prstGeom prst="rect">
            <a:avLst/>
          </a:prstGeom>
          <a:solidFill>
            <a:srgbClr val="2D6A6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484000" y="2088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Reproducción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484000" y="2376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8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Nidos activos como indicador clave.</a:t>
            </a:r>
            <a:endParaRPr lang="en-US" sz="108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176000" y="1872000"/>
            <a:ext cx="1656000" cy="19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176000" y="1872000"/>
            <a:ext cx="1656000" cy="144000"/>
          </a:xfrm>
          <a:prstGeom prst="rect">
            <a:avLst/>
          </a:prstGeom>
          <a:solidFill>
            <a:srgbClr val="88A97C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284000" y="2088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Alimentación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284000" y="2376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8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Tipo de presa y disponibilidad.</a:t>
            </a:r>
            <a:endParaRPr lang="en-US" sz="108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976000" y="1872000"/>
            <a:ext cx="1656000" cy="19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976000" y="1872000"/>
            <a:ext cx="1656000" cy="144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084000" y="2088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Salud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084000" y="2376000"/>
            <a:ext cx="1440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8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Parásitos y enfermedades reportadas.</a:t>
            </a:r>
            <a:endParaRPr lang="en-US" sz="108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776000" y="1872000"/>
            <a:ext cx="1656000" cy="19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776000" y="1872000"/>
            <a:ext cx="1656000" cy="144000"/>
          </a:xfrm>
          <a:prstGeom prst="rect">
            <a:avLst/>
          </a:prstGeom>
          <a:solidFill>
            <a:srgbClr val="153329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884000" y="2088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Amenazas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884000" y="2376000"/>
            <a:ext cx="144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8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Pesca, basura, turismo y El Niño.</a:t>
            </a:r>
            <a:endParaRPr lang="en-US" sz="108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76000" y="4248000"/>
            <a:ext cx="8928000" cy="72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80000" tIns="144000" rIns="180000" bIns="72000" anchor="ctr" anchorCtr="1">
            <a:noAutofit/>
          </a:bodyPr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Variables prácticas para el dataset:</a:t>
            </a:r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colonias, nidos activos, dieta, presencia de amenazas y condiciones ambientales.</a:t>
            </a:r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6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5526000"/>
            <a:ext cx="10080000" cy="72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27000" rIns="90000" bIns="27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76000" y="432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1" u="none" strike="noStrike">
                <a:solidFill>
                  <a:srgbClr val="2D6A6A"/>
                </a:solidFill>
                <a:effectLst/>
                <a:uFillTx/>
                <a:latin typeface="Arial"/>
              </a:rPr>
              <a:t>5. PREPARACIÓN DE LOS DATOS</a:t>
            </a:r>
            <a:endParaRPr lang="en-US" sz="900" b="1" u="none" strike="noStrike">
              <a:solidFill>
                <a:srgbClr val="2D6A6A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76000" y="720000"/>
            <a:ext cx="68400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20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Cómo convertir información dispersa en un dataset analizable</a:t>
            </a:r>
            <a:endParaRPr lang="en-US" sz="220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108000" y="5274000"/>
            <a:ext cx="4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06</a:t>
            </a:r>
            <a:endParaRPr lang="en-US" sz="9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76000" y="1512000"/>
            <a:ext cx="432000" cy="576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08000" tIns="72000" rIns="108000" bIns="72000" anchor="ctr" anchorCtr="1">
            <a:noAutofit/>
          </a:bodyPr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16000" y="1512000"/>
            <a:ext cx="2088000" cy="57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144000" tIns="90000" rIns="144000" bIns="72000" anchor="ctr" anchorCtr="1">
            <a:noAutofit/>
          </a:bodyPr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Estandarizar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Nombres de colonias, regiones y fechas.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76000" y="2196000"/>
            <a:ext cx="432000" cy="576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08000" tIns="72000" rIns="108000" bIns="72000" anchor="ctr" anchorCtr="1">
            <a:noAutofit/>
          </a:bodyPr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2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116000" y="2196000"/>
            <a:ext cx="2088000" cy="57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144000" tIns="90000" rIns="144000" bIns="72000" anchor="ctr" anchorCtr="1">
            <a:noAutofit/>
          </a:bodyPr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Unidad de análisis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Construir un dataset del tipo colonia + año.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76000" y="2880000"/>
            <a:ext cx="432000" cy="576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08000" tIns="72000" rIns="108000" bIns="72000" anchor="ctr" anchorCtr="1">
            <a:noAutofit/>
          </a:bodyPr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3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116000" y="2880000"/>
            <a:ext cx="2088000" cy="57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144000" tIns="90000" rIns="144000" bIns="72000" anchor="ctr" anchorCtr="1">
            <a:noAutofit/>
          </a:bodyPr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Variables clave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Nidos activos, dieta, amenazas y ambiente.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76000" y="3564000"/>
            <a:ext cx="432000" cy="576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08000" tIns="72000" rIns="108000" bIns="72000" anchor="ctr" anchorCtr="1">
            <a:noAutofit/>
          </a:bodyPr>
          <a:p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4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116000" y="3564000"/>
            <a:ext cx="2088000" cy="57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144000" tIns="90000" rIns="144000" bIns="72000" anchor="ctr" anchorCtr="1">
            <a:noAutofit/>
          </a:bodyPr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Transformaciones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120" b="1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Agrupar amenazas y tratar faltantes de salud.</a:t>
            </a:r>
            <a:endParaRPr lang="en-US" sz="1120" b="1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3672000" y="1512000"/>
            <a:ext cx="5832000" cy="864000"/>
          </a:xfrm>
          <a:prstGeom prst="rect">
            <a:avLst/>
          </a:prstGeom>
          <a:solidFill>
            <a:srgbClr val="E8E0CF"/>
          </a:solidFill>
          <a:ln w="0">
            <a:noFill/>
          </a:ln>
        </p:spPr>
        <p:txBody>
          <a:bodyPr lIns="180000" tIns="108000" rIns="144000" bIns="72000" anchor="ctr" anchorCtr="1">
            <a:noAutofit/>
          </a:bodyPr>
          <a:p>
            <a:r>
              <a:rPr lang="en-US" sz="1700" b="1" u="none" strike="noStrike">
                <a:solidFill>
                  <a:srgbClr val="153329"/>
                </a:solidFill>
                <a:effectLst/>
                <a:uFillTx/>
                <a:latin typeface="Times New Roman"/>
              </a:rPr>
              <a:t>Estructura sugerida del dataset</a:t>
            </a:r>
            <a:endParaRPr lang="en-US" sz="1700" b="1" u="none" strike="noStrike">
              <a:solidFill>
                <a:srgbClr val="153329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672000" y="2520000"/>
            <a:ext cx="5832000" cy="144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180000" tIns="144000" rIns="180000" bIns="108000" anchor="ctr" anchorCtr="1">
            <a:noAutofit/>
          </a:bodyPr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colonia | año | nidos activos | presión humana | dieta | condición ambiental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La preparación no solo limpia datos: también construye indicadores comparables entre colonias.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3672000" y="4176000"/>
            <a:ext cx="5832000" cy="576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180000" tIns="108000" rIns="180000" bIns="72000" anchor="ctr" anchorCtr="1">
            <a:noAutofit/>
          </a:bodyPr>
          <a:p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Indicador útil: presión humana = presencia combinada de pesca, basura y turismo.</a:t>
            </a:r>
            <a:endParaRPr lang="en-US" sz="12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4F6F2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5526000"/>
            <a:ext cx="10080000" cy="72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27000" rIns="90000" bIns="27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76000" y="432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1" u="none" strike="noStrike">
                <a:solidFill>
                  <a:srgbClr val="2D6A6A"/>
                </a:solidFill>
                <a:effectLst/>
                <a:uFillTx/>
                <a:latin typeface="Arial"/>
              </a:rPr>
              <a:t>6. ANÁLISIS ESPERADO</a:t>
            </a:r>
            <a:endParaRPr lang="en-US" sz="900" b="1" u="none" strike="noStrike">
              <a:solidFill>
                <a:srgbClr val="2D6A6A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76000" y="720000"/>
            <a:ext cx="68400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20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Qué relaciones conviene observar y qué decisiones habilitan</a:t>
            </a:r>
            <a:endParaRPr lang="en-US" sz="220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9108000" y="5274000"/>
            <a:ext cx="4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07</a:t>
            </a:r>
            <a:endParaRPr lang="en-US" sz="9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76000" y="1656000"/>
            <a:ext cx="4104000" cy="266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576000" y="1656000"/>
            <a:ext cx="4104000" cy="144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84000" y="1872000"/>
            <a:ext cx="3888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Relaciones a medir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84000" y="2160000"/>
            <a:ext cx="3888000" cy="68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alimento -&gt; reproducción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amenazas -&gt; éxito reproductivo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condiciones ambientales -&gt; disponibilidad marina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presión humana -&gt; vulnerabilidad de la colonia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328000" y="1656000"/>
            <a:ext cx="4176000" cy="266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328000" y="1656000"/>
            <a:ext cx="4176000" cy="144000"/>
          </a:xfrm>
          <a:prstGeom prst="rect">
            <a:avLst/>
          </a:prstGeom>
          <a:solidFill>
            <a:srgbClr val="2D6A6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436000" y="1872000"/>
            <a:ext cx="396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Resultados esperados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436000" y="2160000"/>
            <a:ext cx="3960000" cy="68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Colonias más vulnerables.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Factores críticos para la conservación.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Variables prioritarias para monitoreo.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• Evidencia para orientar decisiones.</a:t>
            </a:r>
            <a:endParaRPr lang="en-US" sz="120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576000" y="4572000"/>
            <a:ext cx="8928000" cy="648000"/>
          </a:xfrm>
          <a:prstGeom prst="rect">
            <a:avLst/>
          </a:prstGeom>
          <a:solidFill>
            <a:srgbClr val="153329"/>
          </a:solidFill>
          <a:ln w="0">
            <a:noFill/>
          </a:ln>
        </p:spPr>
        <p:txBody>
          <a:bodyPr lIns="180000" tIns="144000" rIns="180000" bIns="72000" anchor="ctr" anchorCtr="1">
            <a:noAutofit/>
          </a:bodyPr>
          <a:p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 analítica permite pasar de observaciones aisladas a criterios concretos para priorizar conservación.</a:t>
            </a:r>
            <a:endParaRPr lang="en-US" sz="14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F4D3E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0" y="5526000"/>
            <a:ext cx="10080000" cy="72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27000" rIns="90000" bIns="27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76000" y="648000"/>
            <a:ext cx="4320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1" u="none" strike="noStrike">
                <a:solidFill>
                  <a:srgbClr val="DDE8E1"/>
                </a:solidFill>
                <a:effectLst/>
                <a:uFillTx/>
                <a:latin typeface="Arial"/>
              </a:rPr>
              <a:t>7. CONCLUSION</a:t>
            </a:r>
            <a:endParaRPr lang="en-US" sz="900" b="1" u="none" strike="noStrike">
              <a:solidFill>
                <a:srgbClr val="DDE8E1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76000" y="1224000"/>
            <a:ext cx="4392000" cy="134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La supervivencia del pingüino de Humboldt depende del equilibrio entre factores naturales y presión humana.</a:t>
            </a:r>
            <a:endParaRPr lang="en-US" sz="24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76000" y="3168000"/>
            <a:ext cx="4392000" cy="57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0" u="none" strike="noStrike">
                <a:solidFill>
                  <a:srgbClr val="DDE8E1"/>
                </a:solidFill>
                <a:effectLst/>
                <a:uFillTx/>
                <a:latin typeface="Arial"/>
              </a:rPr>
              <a:t>El análisis de datos permite identificar riesgos, comparar colonias y orientar estrategias de conservación con evidencia.</a:t>
            </a:r>
            <a:endParaRPr lang="en-US" sz="1350" b="0" u="none" strike="noStrike">
              <a:solidFill>
                <a:srgbClr val="DDE8E1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5904000" y="1008000"/>
            <a:ext cx="3600000" cy="2592000"/>
          </a:xfrm>
          <a:prstGeom prst="rect">
            <a:avLst/>
          </a:prstGeom>
          <a:solidFill>
            <a:srgbClr val="E8E0C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/>
          <a:stretch/>
        </p:blipFill>
        <p:spPr>
          <a:xfrm>
            <a:off x="5994000" y="1155600"/>
            <a:ext cx="3420000" cy="229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"/>
          <p:cNvSpPr/>
          <p:nvPr/>
        </p:nvSpPr>
        <p:spPr>
          <a:xfrm>
            <a:off x="576000" y="4140000"/>
            <a:ext cx="2808000" cy="93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76000" y="4140000"/>
            <a:ext cx="2808000" cy="144000"/>
          </a:xfrm>
          <a:prstGeom prst="rect">
            <a:avLst/>
          </a:prstGeom>
          <a:solidFill>
            <a:srgbClr val="9EB8A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84000" y="4356000"/>
            <a:ext cx="259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Amenazas críticas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84000" y="4644000"/>
            <a:ext cx="259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3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La basura marina y la pesca concentran los riesgos más visibles.</a:t>
            </a:r>
            <a:endParaRPr lang="en-US" sz="103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36000" y="4140000"/>
            <a:ext cx="2808000" cy="93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3636000" y="4140000"/>
            <a:ext cx="2808000" cy="144000"/>
          </a:xfrm>
          <a:prstGeom prst="rect">
            <a:avLst/>
          </a:prstGeom>
          <a:solidFill>
            <a:srgbClr val="2D6A6A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744000" y="4356000"/>
            <a:ext cx="259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Indicador principal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744000" y="4644000"/>
            <a:ext cx="259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3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La reproducción y los nidos activos son la señal más útil.</a:t>
            </a:r>
            <a:endParaRPr lang="en-US" sz="103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696000" y="4140000"/>
            <a:ext cx="2808000" cy="93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696000" y="4140000"/>
            <a:ext cx="2808000" cy="144000"/>
          </a:xfrm>
          <a:prstGeom prst="rect">
            <a:avLst/>
          </a:prstGeom>
          <a:solidFill>
            <a:srgbClr val="88A97C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804000" y="4356000"/>
            <a:ext cx="259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350" b="1" u="none" strike="noStrike">
                <a:solidFill>
                  <a:srgbClr val="1F4D3E"/>
                </a:solidFill>
                <a:effectLst/>
                <a:uFillTx/>
                <a:latin typeface="Times New Roman"/>
              </a:rPr>
              <a:t>Decisión basada en datos</a:t>
            </a:r>
            <a:endParaRPr lang="en-US" sz="1350" b="1" u="none" strike="noStrike">
              <a:solidFill>
                <a:srgbClr val="1F4D3E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804000" y="4644000"/>
            <a:ext cx="259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1030" b="0" u="none" strike="noStrike">
                <a:solidFill>
                  <a:srgbClr val="233033"/>
                </a:solidFill>
                <a:effectLst/>
                <a:uFillTx/>
                <a:latin typeface="Arial"/>
              </a:rPr>
              <a:t>La conservación debe priorizar evidencia antes que intuición.</a:t>
            </a:r>
            <a:endParaRPr lang="en-US" sz="1030" b="0" u="none" strike="noStrike">
              <a:solidFill>
                <a:srgbClr val="233033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9108000" y="5274000"/>
            <a:ext cx="432000" cy="3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en-US" sz="900" b="0" u="none" strike="noStrike">
                <a:solidFill>
                  <a:srgbClr val="677776"/>
                </a:solidFill>
                <a:effectLst/>
                <a:uFillTx/>
                <a:latin typeface="Arial"/>
              </a:rPr>
              <a:t>08</a:t>
            </a:r>
            <a:endParaRPr lang="en-US" sz="900" b="0" u="none" strike="noStrike">
              <a:solidFill>
                <a:srgbClr val="67777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2026-03-30T09:13:47Z</dcterms:created>
  <dc:creator/>
  <dc:description/>
  <dc:language>en-US</dc:language>
  <cp:lastModifiedBy/>
  <dcterms:modified xsi:type="dcterms:W3CDTF">2026-03-30T09:13:51Z</dcterms:modified>
  <cp:revision>1</cp:revision>
  <dc:subject/>
  <dc:title/>
</cp:coreProperties>
</file>