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94760" y="0"/>
            <a:ext cx="91440" cy="6858000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E4DC"/>
                </a:solidFill>
                <a:latin typeface="Aptos"/>
              </a:rPr>
              <a:t>Tarea 2 · INFO1184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DF5F2"/>
                </a:solidFill>
                <a:latin typeface="Aptos"/>
              </a:rPr>
              <a:t>Inteligencia de Negocios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Análisis de
Agrupamiento
Jerárquico Aglomerativo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8211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DF5F2"/>
                </a:solidFill>
                <a:latin typeface="Aptos"/>
              </a:rPr>
              <a:t>Dataset Bank Marketing · CRISP-DM · 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9E4DC"/>
                </a:solidFill>
                <a:latin typeface="Aptos"/>
              </a:rPr>
              <a:t>Investigación y Desarrollo · Semestre I-2026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94360"/>
            <a:ext cx="7269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07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39" y="749808"/>
            <a:ext cx="4941417" cy="3529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3984" y="4178808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Resultado central del análisis: 4 clusters interpretables proyectados en PCA.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700016"/>
            <a:ext cx="1691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4700016"/>
            <a:ext cx="73152" cy="62179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782312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45.211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001768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registros del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00016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700016"/>
            <a:ext cx="73152" cy="621792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4782312"/>
            <a:ext cx="1197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5001768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clusters finales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4700016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4700016"/>
            <a:ext cx="73152" cy="621792"/>
          </a:xfrm>
          <a:prstGeom prst="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4" y="478231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5001768"/>
            <a:ext cx="1655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dashboard requerido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700016"/>
            <a:ext cx="1828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56064" y="4700016"/>
            <a:ext cx="73152" cy="621792"/>
          </a:xfrm>
          <a:prstGeom prst="rect">
            <a:avLst/>
          </a:prstGeom>
          <a:solidFill>
            <a:srgbClr val="8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4782312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11,7%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6" y="5001768"/>
            <a:ext cx="16093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suscribe depósito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5504688"/>
            <a:ext cx="352044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56327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C7A73"/>
                </a:solidFill>
                <a:latin typeface="Aptos"/>
              </a:rPr>
              <a:t>Integrantes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5797296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Juan Muñoz
Vicente Rivera
Fernando Valdés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5504688"/>
            <a:ext cx="34655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8" y="563270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C7A73"/>
                </a:solidFill>
                <a:latin typeface="Aptos"/>
              </a:rPr>
              <a:t>Docente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579729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Marcos Levano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797296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Presentacion academica para exposicion final de TA02.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INTRODUCCION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Objetivo y alcance de TA02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7F"/>
                </a:solidFill>
                <a:latin typeface="Aptos"/>
              </a:rPr>
              <a:t>La consigna oficial exige aplicar CRISP-DM en sus fases 1, 2, 3 y 4 sobre Bank Marketing, usando agrupamiento aglomerativo jerarquico en R Project y complementando con un dashboard final en Power BI.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691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73152" cy="62179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65376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45.211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2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observaciones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9152" y="178308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9152" y="1783080"/>
            <a:ext cx="73152" cy="621792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3744" y="1865376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0848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atributos totales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5384" y="1783080"/>
            <a:ext cx="1828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5384" y="1783080"/>
            <a:ext cx="73152" cy="621792"/>
          </a:xfrm>
          <a:prstGeom prst="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1865376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11,7%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084832"/>
            <a:ext cx="16093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tasa de suscripcion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1783080"/>
            <a:ext cx="2011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783080"/>
            <a:ext cx="73152" cy="621792"/>
          </a:xfrm>
          <a:prstGeom prst="rect">
            <a:avLst/>
          </a:prstGeom>
          <a:solidFill>
            <a:srgbClr val="8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865376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81,7%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084832"/>
            <a:ext cx="17922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sin contacto previo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697480"/>
            <a:ext cx="2880360" cy="132588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91440" cy="132588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852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253E"/>
                </a:solidFill>
                <a:latin typeface="Aptos Display"/>
              </a:rPr>
              <a:t>Caso de negocio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3154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E2730"/>
                </a:solidFill>
                <a:latin typeface="Aptos"/>
              </a:rPr>
              <a:t>Segmentar clientes para hacer más eficiente la campaña telefónica de depósitos a plazo.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2697480"/>
            <a:ext cx="2880360" cy="13258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77639" y="2697480"/>
            <a:ext cx="91440" cy="1325880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23943" y="2852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253E"/>
                </a:solidFill>
                <a:latin typeface="Aptos Display"/>
              </a:rPr>
              <a:t>Método exigido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3943" y="3154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E2730"/>
                </a:solidFill>
                <a:latin typeface="Aptos"/>
              </a:rPr>
              <a:t>Clustering jerárquico aglomerativo con lectura, preparación y modelamiento en R Project.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697480"/>
            <a:ext cx="2880360" cy="1325880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06640" y="2697480"/>
            <a:ext cx="91440" cy="1325880"/>
          </a:xfrm>
          <a:prstGeom prst="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2944" y="2852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253E"/>
                </a:solidFill>
                <a:latin typeface="Aptos Display"/>
              </a:rPr>
              <a:t>Entregable visual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2944" y="3154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E2730"/>
                </a:solidFill>
                <a:latin typeface="Aptos"/>
              </a:rPr>
              <a:t>Presentación profesional con resultados, gráficos y una diapositiva reservada para Power BI.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709160"/>
            <a:ext cx="1554480" cy="804672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914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
Comprensión
empresarial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50008" y="5111496"/>
            <a:ext cx="329184" cy="0"/>
          </a:xfrm>
          <a:prstGeom prst="line">
            <a:avLst/>
          </a:prstGeom>
          <a:ln w="254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834640" y="4709160"/>
            <a:ext cx="1554480" cy="804672"/>
          </a:xfrm>
          <a:prstGeom prst="roundRect">
            <a:avLst/>
          </a:prstGeom>
          <a:solidFill>
            <a:srgbClr val="4C7A73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47914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
Comprensión
de los datos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07408" y="5111496"/>
            <a:ext cx="329184" cy="0"/>
          </a:xfrm>
          <a:prstGeom prst="line">
            <a:avLst/>
          </a:prstGeom>
          <a:ln w="254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892040" y="4709160"/>
            <a:ext cx="1554480" cy="804672"/>
          </a:xfrm>
          <a:prstGeom prst="roundRect">
            <a:avLst/>
          </a:prstGeom>
          <a:solidFill>
            <a:srgbClr val="B8875B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47914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
Preparación
de datos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64808" y="5111496"/>
            <a:ext cx="329184" cy="0"/>
          </a:xfrm>
          <a:prstGeom prst="line">
            <a:avLst/>
          </a:prstGeom>
          <a:ln w="254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49440" y="4709160"/>
            <a:ext cx="1554480" cy="804672"/>
          </a:xfrm>
          <a:prstGeom prst="roundRect">
            <a:avLst/>
          </a:prstGeom>
          <a:solidFill>
            <a:srgbClr val="34506B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47914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
Modelamiento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22208" y="5111496"/>
            <a:ext cx="329184" cy="0"/>
          </a:xfrm>
          <a:prstGeom prst="line">
            <a:avLst/>
          </a:prstGeom>
          <a:ln w="254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006840" y="4709160"/>
            <a:ext cx="1554480" cy="804672"/>
          </a:xfrm>
          <a:prstGeom prst="roundRect">
            <a:avLst/>
          </a:prstGeom>
          <a:solidFill>
            <a:srgbClr val="E9E4DC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7914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0253E"/>
                </a:solidFill>
                <a:latin typeface="Aptos"/>
              </a:rPr>
              <a:t>5
Dashboard
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Fase 1 · Comprensión empresarial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44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Problema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Las campanas telefonicas se realizan sobre una base amplia y heterogenea.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El objetivo es mejorar la focalizacion para aumentar conversion y reducir costo comercial.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Se requiere traducir el comportamiento de clientes en segmentos accionables.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015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Objetivo de mineria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30752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Identificar grupos homogeneos segun variables demograficas, financieras y de interaccion.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Priorizar clusters interpretables y utiles para decisiones de marketing y riesgo.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992624"/>
            <a:ext cx="3154680" cy="530352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Criterio de exito: clusters diferenciados, interpretables y utiles para la estrategia comercial.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261872"/>
            <a:ext cx="2971800" cy="1874519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4630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Preguntas que guian el trabajo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810512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E2730"/>
                </a:solidFill>
                <a:latin typeface="Aptos"/>
              </a:rPr>
              <a:t>1. Existen grupos naturales dentro de la base?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E2730"/>
                </a:solidFill>
                <a:latin typeface="Aptos"/>
              </a:rPr>
              <a:t>2. Que variables definen cada segmento?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730"/>
                </a:solidFill>
                <a:latin typeface="Aptos"/>
              </a:rPr>
              <a:t>3. Como usar esos perfiles para orientar campanas?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319272"/>
            <a:ext cx="2971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52958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Contexto analítico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77056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Dataset: 45.211 registros y 17 atributos.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Campanas reales de un banco portugues entre 2008 y 2010.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Variable objetivo: suscripcion a deposito a plazo.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730"/>
                </a:solidFill>
                <a:latin typeface="Aptos"/>
              </a:rPr>
              <a:t>- Se trabajara una muestra de 2.000 observaciones para el clustering jerarquico.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1261872"/>
            <a:ext cx="3904487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14630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CRISP-DM en esta tarea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8704" y="1847088"/>
            <a:ext cx="868680" cy="438912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1956816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Fase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956816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Comprensión empresarial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18704" y="2505456"/>
            <a:ext cx="868680" cy="438912"/>
          </a:xfrm>
          <a:prstGeom prst="round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2615184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Fase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2615184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Comprensión de los datos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18704" y="3163824"/>
            <a:ext cx="868680" cy="438912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4" y="3273552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Fase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32735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Preparación de los datos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18704" y="3822191"/>
            <a:ext cx="868680" cy="438912"/>
          </a:xfrm>
          <a:prstGeom prst="round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3931919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Fase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3931919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30"/>
                </a:solidFill>
                <a:latin typeface="Aptos"/>
              </a:rPr>
              <a:t>Modelamiento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18704" y="4919472"/>
            <a:ext cx="3246120" cy="530352"/>
          </a:xfrm>
          <a:prstGeom prst="roundRect">
            <a:avLst/>
          </a:prstGeom>
          <a:solidFill>
            <a:srgbClr val="FA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5008" y="50474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E2730"/>
                </a:solidFill>
                <a:latin typeface="Aptos"/>
              </a:rPr>
              <a:t>La presentación sigue exactamente ese orden: introducción, desarrollo, resultados y cierre.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Fase 2 · Comprensión de los datos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5214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5727F"/>
                </a:solidFill>
                <a:latin typeface="Aptos"/>
              </a:rPr>
              <a:t>El analisis exploratorio confirma un fuerte desbalance en la variable objetivo y una alta dispersion financiera, dos elementos clave para la interpretacion posterior de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2496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01_distribucion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88" y="1901952"/>
            <a:ext cx="3681984" cy="2761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470001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Distribución de la variable objetivo y: solo una fracción menor suscribe el depósito.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1682496"/>
            <a:ext cx="5715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02_edad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47088"/>
            <a:ext cx="4224528" cy="2816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4700016"/>
            <a:ext cx="5138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Relacion entre edad y balance: dispersion amplia y superposicion entre respuestas yes/no.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85232"/>
            <a:ext cx="11082528" cy="713232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46811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FFFFFF"/>
                </a:solidFill>
                <a:latin typeface="Aptos"/>
              </a:rPr>
              <a:t>Insight clave: 88,3% no suscribe, edad promedio 41 anos, balance medio 1.362 EUR y duracion media del ultimo contacto de 258 segundos.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Comprensión de los datos · estructura financiera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5715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03_boxplot_balance_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73936"/>
            <a:ext cx="5321808" cy="2660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809744"/>
            <a:ext cx="5321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Balance por ocupacion: alta dispersion, presencia de outliers y perfiles economicos distintos.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234440"/>
            <a:ext cx="52120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04_correl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536192"/>
            <a:ext cx="2907792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1696" y="459028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Matriz de correlaciones entre variables numericas usada para revisar dependencia lineal.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3703320" cy="621792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96128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E2730"/>
                </a:solidFill>
                <a:latin typeface="Aptos"/>
              </a:rPr>
              <a:t>Trabajos mas frecuentes: blue-collar (21.5%), management (20.9%), technician (16.8%).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5440680"/>
            <a:ext cx="3291840" cy="621792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596128"/>
            <a:ext cx="2889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1E2730"/>
                </a:solidFill>
                <a:latin typeface="Aptos"/>
              </a:rPr>
              <a:t>81,7% de los clientes no registra contacto previo (pdays = -1).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4" y="5440680"/>
            <a:ext cx="3666744" cy="62179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5513832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E2730"/>
                </a:solidFill>
                <a:latin typeface="Aptos"/>
              </a:rPr>
              <a:t>No hay una sola variable dominante; la segmentación requiere distancia multivariable y estandarización.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Fase 3 · Preparación de los datos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365760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536192"/>
            <a:ext cx="475488" cy="420624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27632"/>
            <a:ext cx="4754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554480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253E"/>
                </a:solidFill>
                <a:latin typeface="Aptos Display"/>
              </a:rPr>
              <a:t>Seleccion de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737360"/>
            <a:ext cx="2432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E2730"/>
                </a:solidFill>
                <a:latin typeface="Aptos"/>
              </a:rPr>
              <a:t>Numericas: age, balance, duration, campaign, pdays y previous.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496312"/>
            <a:ext cx="475488" cy="420624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87752"/>
            <a:ext cx="4754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2514600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253E"/>
                </a:solidFill>
                <a:latin typeface="Aptos Display"/>
              </a:rPr>
              <a:t>Codificacion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2697480"/>
            <a:ext cx="2432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E2730"/>
                </a:solidFill>
                <a:latin typeface="Aptos"/>
              </a:rPr>
              <a:t>default, housing y loan se binarizan; education se codifica como variable ordinal.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456432"/>
            <a:ext cx="475488" cy="420624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547872"/>
            <a:ext cx="4754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474720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253E"/>
                </a:solidFill>
                <a:latin typeface="Aptos Display"/>
              </a:rPr>
              <a:t>Muestreo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3657600"/>
            <a:ext cx="2432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E2730"/>
                </a:solidFill>
                <a:latin typeface="Aptos"/>
              </a:rPr>
              <a:t>Se toma una muestra aleatoria de 2.000 observaciones con semilla 42.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416552"/>
            <a:ext cx="475488" cy="420624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507992"/>
            <a:ext cx="4754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4434840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253E"/>
                </a:solidFill>
                <a:latin typeface="Aptos Display"/>
              </a:rPr>
              <a:t>Escalado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4617720"/>
            <a:ext cx="2432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E2730"/>
                </a:solidFill>
                <a:latin typeface="Aptos"/>
              </a:rPr>
              <a:t>Se aplica estandarizacion z-score para hacer comparables todas las magnitudes.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1298448"/>
            <a:ext cx="2944368" cy="1874519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151790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253E"/>
                </a:solidFill>
                <a:latin typeface="Aptos Display"/>
              </a:rPr>
              <a:t>Variables usadas en el modelo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1901952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30"/>
                </a:solidFill>
                <a:latin typeface="Aptos"/>
              </a:rPr>
              <a:t>age · balance · duration · campaign · pdays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30"/>
                </a:solidFill>
                <a:latin typeface="Aptos"/>
              </a:rPr>
              <a:t>previous · default · housing · loan · 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248716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65727F"/>
                </a:solidFill>
                <a:latin typeface="Aptos"/>
              </a:rPr>
              <a:t>Total: 10 variables de entrada para el clustering.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3383280"/>
            <a:ext cx="29443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360273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253E"/>
                </a:solidFill>
                <a:latin typeface="Aptos Display"/>
              </a:rPr>
              <a:t>Criterio técnico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3913632"/>
            <a:ext cx="239572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1E2730"/>
                </a:solidFill>
                <a:latin typeface="Aptos"/>
              </a:rPr>
              <a:t>- El clustering jerarquico requiere una matriz de distancias n x 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1E2730"/>
                </a:solidFill>
                <a:latin typeface="Aptos"/>
              </a:rPr>
              <a:t>- El muestreo reduce costo computacional sin perder interpretabilidad.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E2730"/>
                </a:solidFill>
                <a:latin typeface="Aptos"/>
              </a:rPr>
              <a:t>- La estandarizacion evita que balance o duration dominen la distancia euclidiana.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17536" y="1298448"/>
            <a:ext cx="3913632" cy="4462272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166420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E4DC"/>
                </a:solidFill>
                <a:latin typeface="Aptos"/>
              </a:rPr>
              <a:t>Formula aplicada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1993392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 Display"/>
              </a:rPr>
              <a:t>z = (x - media) / desviación estándar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615184"/>
            <a:ext cx="29077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DF5F2"/>
                </a:solidFill>
                <a:latin typeface="Aptos"/>
              </a:rPr>
              <a:t>Interpretacion operativa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- Cada variable queda en una escala comparable.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- La distancia euclidiana refleja patron global y no solo magnitud absoluta.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- La salida queda lista para el dendrograma y la seleccion de 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Fase 4 · Modelamiento y selección de 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566928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05_dendrograma_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83080"/>
            <a:ext cx="5266944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5047488"/>
            <a:ext cx="5266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Dendrograma Ward.D2 con corte final en k = 4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261872"/>
            <a:ext cx="5266944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06_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01088"/>
            <a:ext cx="4864608" cy="2162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65392" y="493776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Elbow y silueta para k = 2..10: k = 4 logra mejor equilibrio entre forma e interpretación.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14416"/>
            <a:ext cx="11082528" cy="493776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96712"/>
            <a:ext cx="10625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1" i="0">
                <a:solidFill>
                  <a:srgbClr val="1E2730"/>
                </a:solidFill>
                <a:latin typeface="Aptos"/>
              </a:rPr>
              <a:t>Se usa distancia euclidiana sobre datos estandarizados y enlace Ward.D2. Aunque k = 3 tiene silueta media mayor (0,2654), se elige k = 4 porque separa un segmento en mora con valor interpretativo y de riesgo.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Resultado central · cuatro segmentos de clientes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6236208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07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1572768"/>
            <a:ext cx="5325465" cy="3803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68112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Proyeccion PCA: se aprecia separacion entre grupos y cierto solapamiento en zonas centrales.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335024"/>
            <a:ext cx="4315968" cy="98755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1335024"/>
            <a:ext cx="91440" cy="987552"/>
          </a:xfrm>
          <a:prstGeom prst="rect">
            <a:avLst/>
          </a:prstGeom>
          <a:solidFill>
            <a:srgbClr val="2D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408176"/>
            <a:ext cx="407822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53E"/>
                </a:solidFill>
                <a:latin typeface="Aptos Display"/>
              </a:rPr>
              <a:t>Cluster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5D9F"/>
                </a:solidFill>
                <a:latin typeface="Aptos"/>
              </a:rPr>
              <a:t>71,1% de la muestra · n = 1.422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730"/>
                </a:solidFill>
                <a:latin typeface="Aptos"/>
              </a:rPr>
              <a:t>Cliente estandar: balance de 1.700 EUR, sin mora ni prestamo personal.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487168"/>
            <a:ext cx="4315968" cy="987552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2487168"/>
            <a:ext cx="91440" cy="987552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560320"/>
            <a:ext cx="407822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53E"/>
                </a:solidFill>
                <a:latin typeface="Aptos Display"/>
              </a:rPr>
              <a:t>Cluster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C7A73"/>
                </a:solidFill>
                <a:latin typeface="Aptos"/>
              </a:rPr>
              <a:t>11,6% de la muestra · n = 231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730"/>
                </a:solidFill>
                <a:latin typeface="Aptos"/>
              </a:rPr>
              <a:t>Clientes con prestamo personal activo (100%) y balance reducido (576 EUR).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639312"/>
            <a:ext cx="4315968" cy="987552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3639312"/>
            <a:ext cx="91440" cy="987552"/>
          </a:xfrm>
          <a:prstGeom prst="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712464"/>
            <a:ext cx="407822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53E"/>
                </a:solidFill>
                <a:latin typeface="Aptos Display"/>
              </a:rPr>
              <a:t>Cluster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8875B"/>
                </a:solidFill>
                <a:latin typeface="Aptos"/>
              </a:rPr>
              <a:t>15,7% de la muestra · n = 313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730"/>
                </a:solidFill>
                <a:latin typeface="Aptos"/>
              </a:rPr>
              <a:t>Segmento con contacto previo: pdays ~ 237 días y previous ~ 3,5.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791456"/>
            <a:ext cx="4315968" cy="987552"/>
          </a:xfrm>
          <a:prstGeom prst="roundRect">
            <a:avLst/>
          </a:prstGeom>
          <a:solidFill>
            <a:srgbClr val="F8ECEA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4791456"/>
            <a:ext cx="91440" cy="987552"/>
          </a:xfrm>
          <a:prstGeom prst="rect">
            <a:avLst/>
          </a:prstGeom>
          <a:solidFill>
            <a:srgbClr val="8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4864608"/>
            <a:ext cx="407822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53E"/>
                </a:solidFill>
                <a:latin typeface="Aptos Display"/>
              </a:rPr>
              <a:t>Cluster 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554B"/>
                </a:solidFill>
                <a:latin typeface="Aptos"/>
              </a:rPr>
              <a:t>1,7% de la muestra · n = 34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730"/>
                </a:solidFill>
                <a:latin typeface="Aptos"/>
              </a:rPr>
              <a:t>Grupo de alto riesgo: 100% en mora y balance negativo (-383 EUR).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Perfiles comparados y validación final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649224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08_perfile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45" y="1554480"/>
            <a:ext cx="5062118" cy="31638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475488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Comparación de edad, balance, duración y campaña entre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261872"/>
            <a:ext cx="4407408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09_silueta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1736054"/>
            <a:ext cx="3895344" cy="27823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79792" y="4754880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Gráfico de silueta de la asignación final con k =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76672"/>
            <a:ext cx="11082528" cy="658368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532120"/>
            <a:ext cx="10588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Lectura ejecutiva: la estructura es moderada pero útil. Cluster 1 concentra la base estándar, Cluster 3 resalta por historial de contacto y Cluster 4, aunque pequeño, aporta la señal de riesgo más clara para decisiones de negocio.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Conclusiones e implicancias de negocio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179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Hallazgos finales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74519"/>
            <a:ext cx="27432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E2730"/>
                </a:solidFill>
                <a:latin typeface="Aptos"/>
              </a:rPr>
              <a:t>- La base de clientes no es homogénea: emergen 4 perfiles con sentido comercial.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E2730"/>
                </a:solidFill>
                <a:latin typeface="Aptos"/>
              </a:rPr>
              <a:t>- La metodología CRISP-DM ordena el proceso desde el problema hasta el modelamiento.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E2730"/>
                </a:solidFill>
                <a:latin typeface="Aptos"/>
              </a:rPr>
              <a:t>- El segmento en mora aporta valor por riesgo, aunque reduzca levemente la silueta.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730"/>
                </a:solidFill>
                <a:latin typeface="Aptos"/>
              </a:rPr>
              <a:t>- El clustering jerárquico resulta útil para segmentación exploratoria y soporte de decisiones.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4315968"/>
            <a:ext cx="2743200" cy="1078992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75B"/>
                </a:solidFill>
                <a:latin typeface="Aptos"/>
              </a:rPr>
              <a:t>Limitaciones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81728"/>
            <a:ext cx="24140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E2730"/>
                </a:solidFill>
                <a:latin typeface="Aptos"/>
              </a:rPr>
              <a:t>Muestra de 2.000 casos por costo O(n^2) y silueta media de 0,2302, esperable en datos reales de marketing.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1376" y="1280160"/>
            <a:ext cx="37673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1790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Acciones sugeridas por segmento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901952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901952"/>
            <a:ext cx="457200" cy="438912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75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1975104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730"/>
                </a:solidFill>
                <a:latin typeface="Aptos"/>
              </a:rPr>
              <a:t>Campañas masivas de depósito a plazo para clientes estándar.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505456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2505456"/>
            <a:ext cx="457200" cy="438912"/>
          </a:xfrm>
          <a:prstGeom prst="round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57860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57860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730"/>
                </a:solidFill>
                <a:latin typeface="Aptos"/>
              </a:rPr>
              <a:t>Ofertas de consolidación o cross-sell para clientes con préstamo.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08960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0" y="3108960"/>
            <a:ext cx="457200" cy="438912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1821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318211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730"/>
                </a:solidFill>
                <a:latin typeface="Aptos"/>
              </a:rPr>
              <a:t>Seguimiento personalizado a clientes con historial de contacto.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712463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3712463"/>
            <a:ext cx="457200" cy="438912"/>
          </a:xfrm>
          <a:prstGeom prst="roundRect">
            <a:avLst/>
          </a:prstGeom>
          <a:solidFill>
            <a:srgbClr val="8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85615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1184" y="3785615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730"/>
                </a:solidFill>
                <a:latin typeface="Aptos"/>
              </a:rPr>
              <a:t>Excluir de captación y derivar a gestión de riesgo o recuperación.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462272"/>
            <a:ext cx="3291840" cy="640080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626864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Aptos"/>
              </a:rPr>
              <a:t>La segmentación convierte hallazgos estadísticos en decisiones comerciales concretas.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4" y="1280160"/>
            <a:ext cx="3438144" cy="4480560"/>
          </a:xfrm>
          <a:prstGeom prst="round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4" y="15910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DF5F2"/>
                </a:solidFill>
                <a:latin typeface="Aptos"/>
              </a:rPr>
              <a:t>Siguiente paso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190195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 Display"/>
              </a:rPr>
              <a:t>Dashboard en Power 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2487168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FFFFFF"/>
                </a:solidFill>
                <a:latin typeface="Aptos"/>
              </a:rPr>
              <a:t>- Integrar KPIs de suscripción, balance y duration.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FFFFFF"/>
                </a:solidFill>
                <a:latin typeface="Aptos"/>
              </a:rPr>
              <a:t>- Filtrar por cluster, empleo, educación y estado crediticio.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Aptos"/>
              </a:rPr>
              <a:t>- Conectar visualmente el análisis exploratorio con la toma de decisiones.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67344" y="4169663"/>
            <a:ext cx="2651760" cy="749808"/>
          </a:xfrm>
          <a:prstGeom prst="roundRect">
            <a:avLst/>
          </a:prstGeom>
          <a:solidFill>
            <a:srgbClr val="E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433425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10253E"/>
                </a:solidFill>
                <a:latin typeface="Aptos"/>
              </a:rPr>
              <a:t>La última diapositiva queda reservada para insertar ese panel sin rehacer el deck.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C7A73"/>
                </a:solidFill>
                <a:latin typeface="Aptos"/>
              </a:rPr>
              <a:t>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0253E"/>
                </a:solidFill>
                <a:latin typeface="Aptos Display"/>
              </a:rPr>
              <a:t>Placeholder para dashboard final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TA02 · INFO1184 · Bank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5727F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5727F"/>
                </a:solidFill>
                <a:latin typeface="Aptos"/>
              </a:rPr>
              <a:t>Espacio reservado para insertar la captura o exportación del dashboard final requerido por la tarea.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10424160" cy="4297680"/>
          </a:xfrm>
          <a:prstGeom prst="roundRect">
            <a:avLst/>
          </a:prstGeom>
          <a:noFill/>
          <a:ln w="28575">
            <a:solidFill>
              <a:srgbClr val="3450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0253E"/>
                </a:solidFill>
                <a:latin typeface="Aptos Display"/>
              </a:rPr>
              <a:t>Dashboard final en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55264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5727F"/>
                </a:solidFill>
                <a:latin typeface="Aptos"/>
              </a:rPr>
              <a:t>Insertar aquí el panel con KPIs, filtros y visualizaciones finales del caso Bank Marketing.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718304"/>
            <a:ext cx="2194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4718304"/>
            <a:ext cx="73152" cy="62179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9032" y="4800600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5020056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suscripción / balance / duración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718304"/>
            <a:ext cx="2103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4718304"/>
            <a:ext cx="73152" cy="621792"/>
          </a:xfrm>
          <a:prstGeom prst="rect">
            <a:avLst/>
          </a:prstGeom>
          <a:solidFill>
            <a:srgbClr val="4C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4800600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Filtros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5020056"/>
            <a:ext cx="18836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cluster / job / education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718304"/>
            <a:ext cx="22860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4718304"/>
            <a:ext cx="73152" cy="621792"/>
          </a:xfrm>
          <a:prstGeom prst="rect">
            <a:avLst/>
          </a:prstGeom>
          <a:solidFill>
            <a:srgbClr val="B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480060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253E"/>
                </a:solidFill>
                <a:latin typeface="Aptos Display"/>
              </a:rPr>
              <a:t>Vista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5020056"/>
            <a:ext cx="2066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5727F"/>
                </a:solidFill>
                <a:latin typeface="Aptos"/>
              </a:rPr>
              <a:t>insights accionables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