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>
    <a:defPPr>
      <a:defRPr lang="es-CL">
        <a:latin typeface="Liberation Sans"/>
      </a:defRPr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658368" y="56692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DISERTACION 05</a:t>
            </a:r>
            <a:endParaRPr lang="es-CL" sz="1050"/>
          </a:p>
        </p:txBody>
      </p:sp>
      <p:sp>
        <p:nvSpPr>
          <p:cNvPr id="5" name="Text 5"/>
          <p:cNvSpPr txBox="1"/>
          <p:nvPr/>
        </p:nvSpPr>
        <p:spPr>
          <a:xfrm>
            <a:off x="658368" y="987552"/>
            <a:ext cx="6995160" cy="1481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31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Analisis de enfermedad cardiaca</a:t>
            </a:r>
            <a:endParaRPr lang="es-CL" sz="3100"/>
          </a:p>
          <a:p>
            <a:pPr algn="l">
              <a:spcAft>
                <a:spcPts val="400"/>
              </a:spcAft>
            </a:pPr>
            <a:r>
              <a:rPr lang="es-CL" sz="31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Clasificacion y segmentacion</a:t>
            </a:r>
            <a:endParaRPr lang="es-CL" sz="3100"/>
          </a:p>
        </p:txBody>
      </p:sp>
      <p:sp>
        <p:nvSpPr>
          <p:cNvPr id="6" name="Text 6"/>
          <p:cNvSpPr txBox="1"/>
          <p:nvPr/>
        </p:nvSpPr>
        <p:spPr>
          <a:xfrm>
            <a:off x="694944" y="2615184"/>
            <a:ext cx="5705856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Resolucion TA05: datos clinicos, patrones exploratorios, modelos simples y perfiles de pacientes.</a:t>
            </a:r>
            <a:endParaRPr lang="es-CL" sz="1500"/>
          </a:p>
        </p:txBody>
      </p:sp>
      <p:sp>
        <p:nvSpPr>
          <p:cNvPr id="7" name="Text 7"/>
          <p:cNvSpPr txBox="1"/>
          <p:nvPr/>
        </p:nvSpPr>
        <p:spPr>
          <a:xfrm>
            <a:off x="694944" y="5248656"/>
            <a:ext cx="52120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INFO1184 Inteligencia de Negocios</a:t>
            </a:r>
            <a:endParaRPr lang="es-CL" sz="1130"/>
          </a:p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Semestre I-2026</a:t>
            </a:r>
            <a:endParaRPr lang="es-CL" sz="1130"/>
          </a:p>
          <a:p>
            <a:pPr algn="l">
              <a:spcAft>
                <a:spcPts val="400"/>
              </a:spcAft>
            </a:pPr>
            <a:r>
              <a:rPr lang="es-CL" sz="113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Juan Munoz | Vicente Rivera | Fernando Valdes</a:t>
            </a:r>
            <a:endParaRPr lang="es-CL" sz="1130"/>
          </a:p>
        </p:txBody>
      </p:sp>
      <p:sp>
        <p:nvSpPr>
          <p:cNvPr id="8" name="Text 8"/>
          <p:cNvSpPr txBox="1"/>
          <p:nvPr/>
        </p:nvSpPr>
        <p:spPr>
          <a:xfrm>
            <a:off x="8046720" y="932688"/>
            <a:ext cx="3072384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9" name="Shape 9"/>
          <p:cNvSpPr/>
          <p:nvPr/>
        </p:nvSpPr>
        <p:spPr>
          <a:xfrm>
            <a:off x="8046720" y="932688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8247888" y="1060704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DATASET</a:t>
            </a:r>
            <a:endParaRPr lang="es-CL" sz="820"/>
          </a:p>
        </p:txBody>
      </p:sp>
      <p:sp>
        <p:nvSpPr>
          <p:cNvPr id="11" name="Text 11"/>
          <p:cNvSpPr txBox="1"/>
          <p:nvPr/>
        </p:nvSpPr>
        <p:spPr>
          <a:xfrm>
            <a:off x="8247888" y="1280160"/>
            <a:ext cx="27797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1025 x 14</a:t>
            </a:r>
            <a:endParaRPr lang="es-CL" sz="1800"/>
          </a:p>
        </p:txBody>
      </p:sp>
      <p:sp>
        <p:nvSpPr>
          <p:cNvPr id="12" name="Text 12"/>
          <p:cNvSpPr txBox="1"/>
          <p:nvPr/>
        </p:nvSpPr>
        <p:spPr>
          <a:xfrm>
            <a:off x="8046720" y="2011680"/>
            <a:ext cx="3072384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8046720" y="2011680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247888" y="2139696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DEPURADO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8247888" y="2359152"/>
            <a:ext cx="27797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302 filas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046720" y="3090672"/>
            <a:ext cx="3072384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046720" y="3090672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247888" y="3218688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MEJOR F1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247888" y="3438144"/>
            <a:ext cx="27797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0,832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8046720" y="4169664"/>
            <a:ext cx="3072384" cy="841248"/>
          </a:xfrm>
          <a:prstGeom prst="roundRect">
            <a:avLst/>
          </a:prstGeom>
          <a:solidFill>
            <a:srgbClr val="FFF5DD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8046720" y="4169664"/>
            <a:ext cx="73152" cy="84124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8247888" y="4297680"/>
            <a:ext cx="27797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CLUSTERS</a:t>
            </a:r>
            <a:endParaRPr lang="es-CL" sz="820"/>
          </a:p>
        </p:txBody>
      </p:sp>
      <p:sp>
        <p:nvSpPr>
          <p:cNvPr id="23" name="Text 23"/>
          <p:cNvSpPr txBox="1"/>
          <p:nvPr/>
        </p:nvSpPr>
        <p:spPr>
          <a:xfrm>
            <a:off x="8247888" y="4517136"/>
            <a:ext cx="27797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k = 2</a:t>
            </a:r>
            <a:endParaRPr lang="es-CL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RUTA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Temario de la disertacion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554480"/>
            <a:ext cx="9326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01</a:t>
            </a:r>
            <a:endParaRPr lang="es-CL" sz="2200"/>
          </a:p>
        </p:txBody>
      </p:sp>
      <p:sp>
        <p:nvSpPr>
          <p:cNvPr id="10" name="Text 10"/>
          <p:cNvSpPr txBox="1"/>
          <p:nvPr/>
        </p:nvSpPr>
        <p:spPr>
          <a:xfrm>
            <a:off x="402336" y="276148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Contexto</a:t>
            </a:r>
            <a:endParaRPr lang="es-CL" sz="1300"/>
          </a:p>
        </p:txBody>
      </p:sp>
      <p:sp>
        <p:nvSpPr>
          <p:cNvPr id="11" name="Text 11"/>
          <p:cNvSpPr txBox="1"/>
          <p:nvPr/>
        </p:nvSpPr>
        <p:spPr>
          <a:xfrm>
            <a:off x="347472" y="3172968"/>
            <a:ext cx="1847088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Problema y pregunta guia.</a:t>
            </a:r>
            <a:endParaRPr lang="es-CL" sz="1050"/>
          </a:p>
        </p:txBody>
      </p:sp>
      <p:sp>
        <p:nvSpPr>
          <p:cNvPr id="12" name="Shape 12"/>
          <p:cNvSpPr/>
          <p:nvPr/>
        </p:nvSpPr>
        <p:spPr>
          <a:xfrm>
            <a:off x="1746504" y="2011680"/>
            <a:ext cx="1097280" cy="36576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2953512" y="1554480"/>
            <a:ext cx="9326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02</a:t>
            </a:r>
            <a:endParaRPr lang="es-CL" sz="2200"/>
          </a:p>
        </p:txBody>
      </p:sp>
      <p:sp>
        <p:nvSpPr>
          <p:cNvPr id="14" name="Text 14"/>
          <p:cNvSpPr txBox="1"/>
          <p:nvPr/>
        </p:nvSpPr>
        <p:spPr>
          <a:xfrm>
            <a:off x="2642616" y="276148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Datos</a:t>
            </a:r>
            <a:endParaRPr lang="es-CL" sz="1300"/>
          </a:p>
        </p:txBody>
      </p:sp>
      <p:sp>
        <p:nvSpPr>
          <p:cNvPr id="15" name="Text 15"/>
          <p:cNvSpPr txBox="1"/>
          <p:nvPr/>
        </p:nvSpPr>
        <p:spPr>
          <a:xfrm>
            <a:off x="2587752" y="3172968"/>
            <a:ext cx="1847088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Dataset, variables y limpieza.</a:t>
            </a:r>
            <a:endParaRPr lang="es-CL" sz="1050"/>
          </a:p>
        </p:txBody>
      </p:sp>
      <p:sp>
        <p:nvSpPr>
          <p:cNvPr id="16" name="Shape 16"/>
          <p:cNvSpPr/>
          <p:nvPr/>
        </p:nvSpPr>
        <p:spPr>
          <a:xfrm>
            <a:off x="3986784" y="2011680"/>
            <a:ext cx="1097280" cy="36576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193792" y="1554480"/>
            <a:ext cx="9326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es-CL" sz="2200"/>
          </a:p>
        </p:txBody>
      </p:sp>
      <p:sp>
        <p:nvSpPr>
          <p:cNvPr id="18" name="Text 18"/>
          <p:cNvSpPr txBox="1"/>
          <p:nvPr/>
        </p:nvSpPr>
        <p:spPr>
          <a:xfrm>
            <a:off x="4882896" y="276148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Analisis</a:t>
            </a:r>
            <a:endParaRPr lang="es-CL" sz="1300"/>
          </a:p>
        </p:txBody>
      </p:sp>
      <p:sp>
        <p:nvSpPr>
          <p:cNvPr id="19" name="Text 19"/>
          <p:cNvSpPr txBox="1"/>
          <p:nvPr/>
        </p:nvSpPr>
        <p:spPr>
          <a:xfrm>
            <a:off x="4828032" y="3172968"/>
            <a:ext cx="1847088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Patrones por target.</a:t>
            </a:r>
            <a:endParaRPr lang="es-CL" sz="1050"/>
          </a:p>
        </p:txBody>
      </p:sp>
      <p:sp>
        <p:nvSpPr>
          <p:cNvPr id="20" name="Shape 20"/>
          <p:cNvSpPr/>
          <p:nvPr/>
        </p:nvSpPr>
        <p:spPr>
          <a:xfrm>
            <a:off x="6227064" y="2011680"/>
            <a:ext cx="1097280" cy="36576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434072" y="1554480"/>
            <a:ext cx="9326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es-CL" sz="2200"/>
          </a:p>
        </p:txBody>
      </p:sp>
      <p:sp>
        <p:nvSpPr>
          <p:cNvPr id="22" name="Text 22"/>
          <p:cNvSpPr txBox="1"/>
          <p:nvPr/>
        </p:nvSpPr>
        <p:spPr>
          <a:xfrm>
            <a:off x="7123176" y="276148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Modelos</a:t>
            </a:r>
            <a:endParaRPr lang="es-CL" sz="1300"/>
          </a:p>
        </p:txBody>
      </p:sp>
      <p:sp>
        <p:nvSpPr>
          <p:cNvPr id="23" name="Text 23"/>
          <p:cNvSpPr txBox="1"/>
          <p:nvPr/>
        </p:nvSpPr>
        <p:spPr>
          <a:xfrm>
            <a:off x="7068312" y="3172968"/>
            <a:ext cx="1847088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Clasificacion y clustering.</a:t>
            </a:r>
            <a:endParaRPr lang="es-CL" sz="1050"/>
          </a:p>
        </p:txBody>
      </p:sp>
      <p:sp>
        <p:nvSpPr>
          <p:cNvPr id="24" name="Shape 24"/>
          <p:cNvSpPr/>
          <p:nvPr/>
        </p:nvSpPr>
        <p:spPr>
          <a:xfrm>
            <a:off x="8467344" y="2011680"/>
            <a:ext cx="1097280" cy="36576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9674352" y="1554480"/>
            <a:ext cx="932688" cy="93268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109728" tIns="109728" rIns="109728" bIns="10972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22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05</a:t>
            </a:r>
            <a:endParaRPr lang="es-CL" sz="2200"/>
          </a:p>
        </p:txBody>
      </p:sp>
      <p:sp>
        <p:nvSpPr>
          <p:cNvPr id="26" name="Text 26"/>
          <p:cNvSpPr txBox="1"/>
          <p:nvPr/>
        </p:nvSpPr>
        <p:spPr>
          <a:xfrm>
            <a:off x="9363456" y="2761488"/>
            <a:ext cx="1719072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Cierre</a:t>
            </a:r>
            <a:endParaRPr lang="es-CL" sz="1300"/>
          </a:p>
        </p:txBody>
      </p:sp>
      <p:sp>
        <p:nvSpPr>
          <p:cNvPr id="27" name="Text 27"/>
          <p:cNvSpPr txBox="1"/>
          <p:nvPr/>
        </p:nvSpPr>
        <p:spPr>
          <a:xfrm>
            <a:off x="9308592" y="3172968"/>
            <a:ext cx="1847088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0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Conclusiones y fuentes.</a:t>
            </a:r>
            <a:endParaRPr lang="es-CL" sz="1050"/>
          </a:p>
        </p:txBody>
      </p:sp>
      <p:sp>
        <p:nvSpPr>
          <p:cNvPr id="28" name="Text 28"/>
          <p:cNvSpPr txBox="1"/>
          <p:nvPr/>
        </p:nvSpPr>
        <p:spPr>
          <a:xfrm>
            <a:off x="1243584" y="4645152"/>
            <a:ext cx="96926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5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Objetivo: transformar registros clinicos en evidencia interpretable para identificar variables asociadas, evaluar modelos de deteccion y describir perfiles exploratorios.</a:t>
            </a:r>
            <a:endParaRPr lang="es-CL" sz="15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PROBLEMA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Pregunta de investigacion TA05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03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86384" y="1298448"/>
            <a:ext cx="5029200" cy="1645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Pregunta principal</a:t>
            </a:r>
            <a:endParaRPr lang="es-CL" sz="1500"/>
          </a:p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Que variables clinicas y demograficas se relacionan mas con la presencia de enfermedad cardiaca en los pacientes del dataset?</a:t>
            </a:r>
            <a:endParaRPr lang="es-CL" sz="1500"/>
          </a:p>
        </p:txBody>
      </p:sp>
      <p:sp>
        <p:nvSpPr>
          <p:cNvPr id="10" name="Text 10"/>
          <p:cNvSpPr txBox="1"/>
          <p:nvPr/>
        </p:nvSpPr>
        <p:spPr>
          <a:xfrm>
            <a:off x="6327648" y="1298448"/>
            <a:ext cx="4937760" cy="1645920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Enfoque</a:t>
            </a:r>
            <a:endParaRPr lang="es-CL" sz="1500"/>
          </a:p>
          <a:p>
            <a:pPr algn="l">
              <a:spcAft>
                <a:spcPts val="400"/>
              </a:spcAft>
            </a:pPr>
            <a:r>
              <a:rPr lang="es-CL" sz="15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Analisis academico de inteligencia de negocios: exploracion, visualizacion, clasificacion supervisada y clustering no supervisado.</a:t>
            </a:r>
            <a:endParaRPr lang="es-CL" sz="1500"/>
          </a:p>
        </p:txBody>
      </p:sp>
      <p:sp>
        <p:nvSpPr>
          <p:cNvPr id="11" name="Text 11"/>
          <p:cNvSpPr txBox="1"/>
          <p:nvPr/>
        </p:nvSpPr>
        <p:spPr>
          <a:xfrm>
            <a:off x="786384" y="3401568"/>
            <a:ext cx="49377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2" name="Shape 12"/>
          <p:cNvSpPr/>
          <p:nvPr/>
        </p:nvSpPr>
        <p:spPr>
          <a:xfrm>
            <a:off x="786384" y="3401568"/>
            <a:ext cx="73152" cy="786384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05840" y="3547872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Diferencias</a:t>
            </a:r>
            <a:endParaRPr lang="es-CL" sz="1250"/>
          </a:p>
        </p:txBody>
      </p:sp>
      <p:sp>
        <p:nvSpPr>
          <p:cNvPr id="14" name="Text 14"/>
          <p:cNvSpPr txBox="1"/>
          <p:nvPr/>
        </p:nvSpPr>
        <p:spPr>
          <a:xfrm>
            <a:off x="1005840" y="3877056"/>
            <a:ext cx="46085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Edad, colesterol, presion y frecuencia maxima por target.</a:t>
            </a:r>
            <a:endParaRPr lang="es-CL" sz="1040"/>
          </a:p>
        </p:txBody>
      </p:sp>
      <p:sp>
        <p:nvSpPr>
          <p:cNvPr id="15" name="Text 15"/>
          <p:cNvSpPr txBox="1"/>
          <p:nvPr/>
        </p:nvSpPr>
        <p:spPr>
          <a:xfrm>
            <a:off x="6327648" y="3401568"/>
            <a:ext cx="49377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6" name="Shape 16"/>
          <p:cNvSpPr/>
          <p:nvPr/>
        </p:nvSpPr>
        <p:spPr>
          <a:xfrm>
            <a:off x="6327648" y="3401568"/>
            <a:ext cx="73152" cy="786384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547104" y="3547872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Asociaciones</a:t>
            </a:r>
            <a:endParaRPr lang="es-CL" sz="1250"/>
          </a:p>
        </p:txBody>
      </p:sp>
      <p:sp>
        <p:nvSpPr>
          <p:cNvPr id="18" name="Text 18"/>
          <p:cNvSpPr txBox="1"/>
          <p:nvPr/>
        </p:nvSpPr>
        <p:spPr>
          <a:xfrm>
            <a:off x="6547104" y="3877056"/>
            <a:ext cx="46085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Ranking exploratorio de variables relacionadas con target.</a:t>
            </a:r>
            <a:endParaRPr lang="es-CL" sz="1040"/>
          </a:p>
        </p:txBody>
      </p:sp>
      <p:sp>
        <p:nvSpPr>
          <p:cNvPr id="19" name="Text 19"/>
          <p:cNvSpPr txBox="1"/>
          <p:nvPr/>
        </p:nvSpPr>
        <p:spPr>
          <a:xfrm>
            <a:off x="786384" y="4480560"/>
            <a:ext cx="49377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0" name="Shape 20"/>
          <p:cNvSpPr/>
          <p:nvPr/>
        </p:nvSpPr>
        <p:spPr>
          <a:xfrm>
            <a:off x="786384" y="4480560"/>
            <a:ext cx="73152" cy="786384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1005840" y="4626864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Prediccion</a:t>
            </a:r>
            <a:endParaRPr lang="es-CL" sz="1250"/>
          </a:p>
        </p:txBody>
      </p:sp>
      <p:sp>
        <p:nvSpPr>
          <p:cNvPr id="22" name="Text 22"/>
          <p:cNvSpPr txBox="1"/>
          <p:nvPr/>
        </p:nvSpPr>
        <p:spPr>
          <a:xfrm>
            <a:off x="1005840" y="4956048"/>
            <a:ext cx="46085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Regresion logistica, KNN y arbol de decision.</a:t>
            </a:r>
            <a:endParaRPr lang="es-CL" sz="1040"/>
          </a:p>
        </p:txBody>
      </p:sp>
      <p:sp>
        <p:nvSpPr>
          <p:cNvPr id="23" name="Text 23"/>
          <p:cNvSpPr txBox="1"/>
          <p:nvPr/>
        </p:nvSpPr>
        <p:spPr>
          <a:xfrm>
            <a:off x="6327648" y="4480560"/>
            <a:ext cx="4937760" cy="7863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4" name="Shape 24"/>
          <p:cNvSpPr/>
          <p:nvPr/>
        </p:nvSpPr>
        <p:spPr>
          <a:xfrm>
            <a:off x="6327648" y="4480560"/>
            <a:ext cx="73152" cy="786384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547104" y="4626864"/>
            <a:ext cx="460857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Perfiles</a:t>
            </a:r>
            <a:endParaRPr lang="es-CL" sz="1250"/>
          </a:p>
        </p:txBody>
      </p:sp>
      <p:sp>
        <p:nvSpPr>
          <p:cNvPr id="26" name="Text 26"/>
          <p:cNvSpPr txBox="1"/>
          <p:nvPr/>
        </p:nvSpPr>
        <p:spPr>
          <a:xfrm>
            <a:off x="6547104" y="4956048"/>
            <a:ext cx="46085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K-Means para segmentar pacientes con variables continuas.</a:t>
            </a:r>
            <a:endParaRPr lang="es-CL" sz="10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DATOS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Dataset elegido: Heart Disease Dataset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04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61872"/>
            <a:ext cx="2359152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13232" y="1261872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14400" y="1389888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FUENTE</a:t>
            </a:r>
            <a:endParaRPr lang="es-CL" sz="820"/>
          </a:p>
        </p:txBody>
      </p:sp>
      <p:sp>
        <p:nvSpPr>
          <p:cNvPr id="12" name="Text 12"/>
          <p:cNvSpPr txBox="1"/>
          <p:nvPr/>
        </p:nvSpPr>
        <p:spPr>
          <a:xfrm>
            <a:off x="914400" y="1609344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Kaggle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3346704" y="1261872"/>
            <a:ext cx="2359152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3346704" y="1261872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547872" y="1389888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AUTOR</a:t>
            </a:r>
            <a:endParaRPr lang="es-CL" sz="820"/>
          </a:p>
        </p:txBody>
      </p:sp>
      <p:sp>
        <p:nvSpPr>
          <p:cNvPr id="16" name="Text 16"/>
          <p:cNvSpPr txBox="1"/>
          <p:nvPr/>
        </p:nvSpPr>
        <p:spPr>
          <a:xfrm>
            <a:off x="3547872" y="1609344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John Smith</a:t>
            </a:r>
            <a:endParaRPr lang="es-CL" sz="1800"/>
          </a:p>
        </p:txBody>
      </p:sp>
      <p:sp>
        <p:nvSpPr>
          <p:cNvPr id="17" name="Text 17"/>
          <p:cNvSpPr txBox="1"/>
          <p:nvPr/>
        </p:nvSpPr>
        <p:spPr>
          <a:xfrm>
            <a:off x="5980176" y="1261872"/>
            <a:ext cx="2359152" cy="841248"/>
          </a:xfrm>
          <a:prstGeom prst="roundRect">
            <a:avLst/>
          </a:prstGeom>
          <a:solidFill>
            <a:srgbClr val="FFF5DD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5980176" y="1261872"/>
            <a:ext cx="73152" cy="84124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181344" y="1389888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ORIGINAL</a:t>
            </a:r>
            <a:endParaRPr lang="es-CL" sz="820"/>
          </a:p>
        </p:txBody>
      </p:sp>
      <p:sp>
        <p:nvSpPr>
          <p:cNvPr id="20" name="Text 20"/>
          <p:cNvSpPr txBox="1"/>
          <p:nvPr/>
        </p:nvSpPr>
        <p:spPr>
          <a:xfrm>
            <a:off x="6181344" y="1609344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1025 x 14</a:t>
            </a:r>
            <a:endParaRPr lang="es-CL" sz="1800"/>
          </a:p>
        </p:txBody>
      </p:sp>
      <p:sp>
        <p:nvSpPr>
          <p:cNvPr id="21" name="Text 21"/>
          <p:cNvSpPr txBox="1"/>
          <p:nvPr/>
        </p:nvSpPr>
        <p:spPr>
          <a:xfrm>
            <a:off x="8613648" y="1261872"/>
            <a:ext cx="2359152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2" name="Shape 22"/>
          <p:cNvSpPr/>
          <p:nvPr/>
        </p:nvSpPr>
        <p:spPr>
          <a:xfrm>
            <a:off x="8613648" y="1261872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814816" y="1389888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OBJETIVO</a:t>
            </a:r>
            <a:endParaRPr lang="es-CL" sz="820"/>
          </a:p>
        </p:txBody>
      </p:sp>
      <p:sp>
        <p:nvSpPr>
          <p:cNvPr id="24" name="Text 24"/>
          <p:cNvSpPr txBox="1"/>
          <p:nvPr/>
        </p:nvSpPr>
        <p:spPr>
          <a:xfrm>
            <a:off x="8814816" y="1609344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target</a:t>
            </a:r>
            <a:endParaRPr lang="es-CL" sz="1800"/>
          </a:p>
        </p:txBody>
      </p:sp>
      <p:sp>
        <p:nvSpPr>
          <p:cNvPr id="25" name="Text 25"/>
          <p:cNvSpPr txBox="1"/>
          <p:nvPr/>
        </p:nvSpPr>
        <p:spPr>
          <a:xfrm>
            <a:off x="786384" y="2615184"/>
            <a:ext cx="4919472" cy="21762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Que contiene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Registros clinicos de pacientes con variables demograficas, mediciones cardiovasculares y resultados de pruebas medicas codificadas.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Uso en TA05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Analizar patrones asociados a presencia de enfermedad cardiaca y evaluar modelos simples.</a:t>
            </a:r>
            <a:endParaRPr lang="es-CL" sz="1180"/>
          </a:p>
        </p:txBody>
      </p:sp>
      <p:sp>
        <p:nvSpPr>
          <p:cNvPr id="26" name="Text 26"/>
          <p:cNvSpPr txBox="1"/>
          <p:nvPr/>
        </p:nvSpPr>
        <p:spPr>
          <a:xfrm>
            <a:off x="6181344" y="2615184"/>
            <a:ext cx="5010912" cy="2176272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Variable objetivo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target = 0: no presenta enfermedad cardiaca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target = 1: presenta enfermedad cardiaca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Nota</a:t>
            </a:r>
            <a:endParaRPr lang="es-CL" sz="1180"/>
          </a:p>
          <a:p>
            <a:pPr algn="l">
              <a:spcAft>
                <a:spcPts val="400"/>
              </a:spcAft>
            </a:pPr>
            <a:r>
              <a:rPr lang="es-CL" sz="11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El dataset se usa con fines academicos y exploratorios; no constituye diagnostico medico.</a:t>
            </a:r>
            <a:endParaRPr lang="es-CL" sz="1180"/>
          </a:p>
        </p:txBody>
      </p:sp>
      <p:sp>
        <p:nvSpPr>
          <p:cNvPr id="27" name="Text 27"/>
          <p:cNvSpPr txBox="1"/>
          <p:nvPr/>
        </p:nvSpPr>
        <p:spPr>
          <a:xfrm>
            <a:off x="822960" y="5175504"/>
            <a:ext cx="2414016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8" name="Shape 28"/>
          <p:cNvSpPr/>
          <p:nvPr/>
        </p:nvSpPr>
        <p:spPr>
          <a:xfrm>
            <a:off x="822960" y="5175504"/>
            <a:ext cx="73152" cy="74980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1042416" y="5321808"/>
            <a:ext cx="208483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Demograficas</a:t>
            </a:r>
            <a:endParaRPr lang="es-CL" sz="1250"/>
          </a:p>
        </p:txBody>
      </p:sp>
      <p:sp>
        <p:nvSpPr>
          <p:cNvPr id="30" name="Text 30"/>
          <p:cNvSpPr txBox="1"/>
          <p:nvPr/>
        </p:nvSpPr>
        <p:spPr>
          <a:xfrm>
            <a:off x="1042416" y="5650992"/>
            <a:ext cx="208483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age, sex</a:t>
            </a:r>
            <a:endParaRPr lang="es-CL" sz="1040"/>
          </a:p>
        </p:txBody>
      </p:sp>
      <p:sp>
        <p:nvSpPr>
          <p:cNvPr id="31" name="Text 31"/>
          <p:cNvSpPr txBox="1"/>
          <p:nvPr/>
        </p:nvSpPr>
        <p:spPr>
          <a:xfrm>
            <a:off x="3493008" y="5175504"/>
            <a:ext cx="2779776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32" name="Shape 32"/>
          <p:cNvSpPr/>
          <p:nvPr/>
        </p:nvSpPr>
        <p:spPr>
          <a:xfrm>
            <a:off x="3493008" y="5175504"/>
            <a:ext cx="73152" cy="74980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3712464" y="5321808"/>
            <a:ext cx="2450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Clinicas</a:t>
            </a:r>
            <a:endParaRPr lang="es-CL" sz="1250"/>
          </a:p>
        </p:txBody>
      </p:sp>
      <p:sp>
        <p:nvSpPr>
          <p:cNvPr id="34" name="Text 34"/>
          <p:cNvSpPr txBox="1"/>
          <p:nvPr/>
        </p:nvSpPr>
        <p:spPr>
          <a:xfrm>
            <a:off x="3712464" y="5650992"/>
            <a:ext cx="245059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trestbps, chol, thalach, oldpeak</a:t>
            </a:r>
            <a:endParaRPr lang="es-CL" sz="1040"/>
          </a:p>
        </p:txBody>
      </p:sp>
      <p:sp>
        <p:nvSpPr>
          <p:cNvPr id="35" name="Text 35"/>
          <p:cNvSpPr txBox="1"/>
          <p:nvPr/>
        </p:nvSpPr>
        <p:spPr>
          <a:xfrm>
            <a:off x="6528816" y="5175504"/>
            <a:ext cx="3054096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36" name="Shape 36"/>
          <p:cNvSpPr/>
          <p:nvPr/>
        </p:nvSpPr>
        <p:spPr>
          <a:xfrm>
            <a:off x="6528816" y="5175504"/>
            <a:ext cx="73152" cy="74980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6748272" y="5321808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Pruebas codificadas</a:t>
            </a:r>
            <a:endParaRPr lang="es-CL" sz="1250"/>
          </a:p>
        </p:txBody>
      </p:sp>
      <p:sp>
        <p:nvSpPr>
          <p:cNvPr id="38" name="Text 38"/>
          <p:cNvSpPr txBox="1"/>
          <p:nvPr/>
        </p:nvSpPr>
        <p:spPr>
          <a:xfrm>
            <a:off x="6748272" y="5650992"/>
            <a:ext cx="2724912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cp, fbs, restecg, exang, slope, ca, thal</a:t>
            </a:r>
            <a:endParaRPr lang="es-CL" sz="1040"/>
          </a:p>
        </p:txBody>
      </p:sp>
      <p:sp>
        <p:nvSpPr>
          <p:cNvPr id="39" name="Text 39"/>
          <p:cNvSpPr txBox="1"/>
          <p:nvPr/>
        </p:nvSpPr>
        <p:spPr>
          <a:xfrm>
            <a:off x="9838944" y="5175504"/>
            <a:ext cx="1426464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40" name="Shape 40"/>
          <p:cNvSpPr/>
          <p:nvPr/>
        </p:nvSpPr>
        <p:spPr>
          <a:xfrm>
            <a:off x="9838944" y="5175504"/>
            <a:ext cx="73152" cy="74980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10058400" y="53218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Clase</a:t>
            </a:r>
            <a:endParaRPr lang="es-CL" sz="1250"/>
          </a:p>
        </p:txBody>
      </p:sp>
      <p:sp>
        <p:nvSpPr>
          <p:cNvPr id="42" name="Text 42"/>
          <p:cNvSpPr txBox="1"/>
          <p:nvPr/>
        </p:nvSpPr>
        <p:spPr>
          <a:xfrm>
            <a:off x="10058400" y="5650992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target</a:t>
            </a:r>
            <a:endParaRPr lang="es-CL" sz="10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DATOS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Comprension y limpieza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05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80160"/>
            <a:ext cx="2331720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13232" y="1280160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14400" y="14081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ORIGINAL</a:t>
            </a:r>
            <a:endParaRPr lang="es-CL" sz="820"/>
          </a:p>
        </p:txBody>
      </p:sp>
      <p:sp>
        <p:nvSpPr>
          <p:cNvPr id="12" name="Text 12"/>
          <p:cNvSpPr txBox="1"/>
          <p:nvPr/>
        </p:nvSpPr>
        <p:spPr>
          <a:xfrm>
            <a:off x="914400" y="1627632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1025 filas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3310128" y="1280160"/>
            <a:ext cx="2331720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3310128" y="1280160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511296" y="14081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VARIABLES</a:t>
            </a:r>
            <a:endParaRPr lang="es-CL" sz="820"/>
          </a:p>
        </p:txBody>
      </p:sp>
      <p:sp>
        <p:nvSpPr>
          <p:cNvPr id="16" name="Text 16"/>
          <p:cNvSpPr txBox="1"/>
          <p:nvPr/>
        </p:nvSpPr>
        <p:spPr>
          <a:xfrm>
            <a:off x="3511296" y="1627632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14</a:t>
            </a:r>
            <a:endParaRPr lang="es-CL" sz="1800"/>
          </a:p>
        </p:txBody>
      </p:sp>
      <p:sp>
        <p:nvSpPr>
          <p:cNvPr id="17" name="Text 17"/>
          <p:cNvSpPr txBox="1"/>
          <p:nvPr/>
        </p:nvSpPr>
        <p:spPr>
          <a:xfrm>
            <a:off x="5907024" y="1280160"/>
            <a:ext cx="2331720" cy="841248"/>
          </a:xfrm>
          <a:prstGeom prst="roundRect">
            <a:avLst/>
          </a:prstGeom>
          <a:solidFill>
            <a:srgbClr val="FFF5DD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5907024" y="1280160"/>
            <a:ext cx="73152" cy="84124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108192" y="14081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FALTANTES</a:t>
            </a:r>
            <a:endParaRPr lang="es-CL" sz="820"/>
          </a:p>
        </p:txBody>
      </p:sp>
      <p:sp>
        <p:nvSpPr>
          <p:cNvPr id="20" name="Text 20"/>
          <p:cNvSpPr txBox="1"/>
          <p:nvPr/>
        </p:nvSpPr>
        <p:spPr>
          <a:xfrm>
            <a:off x="6108192" y="1627632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0</a:t>
            </a:r>
            <a:endParaRPr lang="es-CL" sz="1800"/>
          </a:p>
        </p:txBody>
      </p:sp>
      <p:sp>
        <p:nvSpPr>
          <p:cNvPr id="21" name="Text 21"/>
          <p:cNvSpPr txBox="1"/>
          <p:nvPr/>
        </p:nvSpPr>
        <p:spPr>
          <a:xfrm>
            <a:off x="8503920" y="1280160"/>
            <a:ext cx="2331720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2" name="Shape 22"/>
          <p:cNvSpPr/>
          <p:nvPr/>
        </p:nvSpPr>
        <p:spPr>
          <a:xfrm>
            <a:off x="8503920" y="1280160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8705088" y="1408176"/>
            <a:ext cx="2039112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DEPURADO</a:t>
            </a:r>
            <a:endParaRPr lang="es-CL" sz="820"/>
          </a:p>
        </p:txBody>
      </p:sp>
      <p:sp>
        <p:nvSpPr>
          <p:cNvPr id="24" name="Text 24"/>
          <p:cNvSpPr txBox="1"/>
          <p:nvPr/>
        </p:nvSpPr>
        <p:spPr>
          <a:xfrm>
            <a:off x="8705088" y="1627632"/>
            <a:ext cx="2039112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302 filas</a:t>
            </a:r>
            <a:endParaRPr lang="es-CL" sz="1800"/>
          </a:p>
        </p:txBody>
      </p:sp>
      <p:sp>
        <p:nvSpPr>
          <p:cNvPr id="25" name="Text 25"/>
          <p:cNvSpPr txBox="1"/>
          <p:nvPr/>
        </p:nvSpPr>
        <p:spPr>
          <a:xfrm>
            <a:off x="786384" y="2670048"/>
            <a:ext cx="5175504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Variables principales</a:t>
            </a:r>
            <a:endParaRPr lang="es-CL" sz="1210"/>
          </a:p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age: edad del paciente</a:t>
            </a:r>
            <a:endParaRPr lang="es-CL" sz="1210"/>
          </a:p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trestbps: presion arterial en reposo</a:t>
            </a:r>
            <a:endParaRPr lang="es-CL" sz="1210"/>
          </a:p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chol: colesterol serico</a:t>
            </a:r>
            <a:endParaRPr lang="es-CL" sz="1210"/>
          </a:p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thalach: frecuencia cardiaca maxima</a:t>
            </a:r>
            <a:endParaRPr lang="es-CL" sz="1210"/>
          </a:p>
          <a:p>
            <a:pPr algn="l">
              <a:spcAft>
                <a:spcPts val="400"/>
              </a:spcAft>
            </a:pPr>
            <a:r>
              <a:rPr lang="es-CL" sz="121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target: ausencia/presencia de enfermedad</a:t>
            </a:r>
            <a:endParaRPr lang="es-CL" sz="1210"/>
          </a:p>
        </p:txBody>
      </p:sp>
      <p:sp>
        <p:nvSpPr>
          <p:cNvPr id="26" name="Text 26"/>
          <p:cNvSpPr txBox="1"/>
          <p:nvPr/>
        </p:nvSpPr>
        <p:spPr>
          <a:xfrm>
            <a:off x="6382512" y="2670048"/>
            <a:ext cx="4901184" cy="19019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64592" tIns="164592" rIns="164592" bIns="164592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3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Decision metodologica</a:t>
            </a:r>
            <a:endParaRPr lang="es-CL" sz="1230"/>
          </a:p>
          <a:p>
            <a:pPr algn="l">
              <a:spcAft>
                <a:spcPts val="400"/>
              </a:spcAft>
            </a:pPr>
            <a:r>
              <a:rPr lang="es-CL" sz="123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Se detectaron 723 duplicados exactos. Fueron eliminados para reducir fuga de informacion entre entrenamiento y prueba, evitando metricas artificialmente optimistas.</a:t>
            </a:r>
            <a:endParaRPr lang="es-CL" sz="1230"/>
          </a:p>
        </p:txBody>
      </p:sp>
      <p:sp>
        <p:nvSpPr>
          <p:cNvPr id="27" name="Text 27"/>
          <p:cNvSpPr txBox="1"/>
          <p:nvPr/>
        </p:nvSpPr>
        <p:spPr>
          <a:xfrm>
            <a:off x="2395728" y="5230368"/>
            <a:ext cx="7406640" cy="493776"/>
          </a:xfrm>
          <a:prstGeom prst="roundRect">
            <a:avLst/>
          </a:prstGeom>
          <a:solidFill>
            <a:srgbClr val="EDF2F7"/>
          </a:solidFill>
          <a:ln w="10160">
            <a:solidFill>
              <a:srgbClr val="D9E2EC"/>
            </a:solidFill>
          </a:ln>
        </p:spPr>
        <p:txBody>
          <a:bodyPr wrap="square" anchor="t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4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Tabla 1. Resumen: 70,54% de filas removidas por duplicacion exacta.</a:t>
            </a:r>
            <a:endParaRPr lang="es-CL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METODO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Flujo CRISP-DM aplicado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06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640080" y="1335024"/>
            <a:ext cx="932688" cy="530352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1</a:t>
            </a:r>
            <a:endParaRPr lang="es-CL" sz="1800"/>
          </a:p>
        </p:txBody>
      </p:sp>
      <p:sp>
        <p:nvSpPr>
          <p:cNvPr id="10" name="Text 10"/>
          <p:cNvSpPr txBox="1"/>
          <p:nvPr/>
        </p:nvSpPr>
        <p:spPr>
          <a:xfrm>
            <a:off x="365760" y="204825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Problema</a:t>
            </a:r>
            <a:endParaRPr lang="es-CL" sz="1250"/>
          </a:p>
        </p:txBody>
      </p:sp>
      <p:sp>
        <p:nvSpPr>
          <p:cNvPr id="11" name="Text 11"/>
          <p:cNvSpPr txBox="1"/>
          <p:nvPr/>
        </p:nvSpPr>
        <p:spPr>
          <a:xfrm>
            <a:off x="201168" y="2450592"/>
            <a:ext cx="197510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98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Definir preguntas y alcance no diagnostico.</a:t>
            </a:r>
            <a:endParaRPr lang="es-CL" sz="980"/>
          </a:p>
        </p:txBody>
      </p:sp>
      <p:sp>
        <p:nvSpPr>
          <p:cNvPr id="12" name="Text 12"/>
          <p:cNvSpPr txBox="1"/>
          <p:nvPr/>
        </p:nvSpPr>
        <p:spPr>
          <a:xfrm>
            <a:off x="2907792" y="1335024"/>
            <a:ext cx="932688" cy="530352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2</a:t>
            </a:r>
            <a:endParaRPr lang="es-CL" sz="1800"/>
          </a:p>
        </p:txBody>
      </p:sp>
      <p:sp>
        <p:nvSpPr>
          <p:cNvPr id="13" name="Text 13"/>
          <p:cNvSpPr txBox="1"/>
          <p:nvPr/>
        </p:nvSpPr>
        <p:spPr>
          <a:xfrm>
            <a:off x="2633472" y="204825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Datos</a:t>
            </a:r>
            <a:endParaRPr lang="es-CL" sz="1250"/>
          </a:p>
        </p:txBody>
      </p:sp>
      <p:sp>
        <p:nvSpPr>
          <p:cNvPr id="14" name="Text 14"/>
          <p:cNvSpPr txBox="1"/>
          <p:nvPr/>
        </p:nvSpPr>
        <p:spPr>
          <a:xfrm>
            <a:off x="2468880" y="2450592"/>
            <a:ext cx="197510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98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Revisar tipos, faltantes, duplicados y balance.</a:t>
            </a:r>
            <a:endParaRPr lang="es-CL" sz="980"/>
          </a:p>
        </p:txBody>
      </p:sp>
      <p:sp>
        <p:nvSpPr>
          <p:cNvPr id="15" name="Text 15"/>
          <p:cNvSpPr txBox="1"/>
          <p:nvPr/>
        </p:nvSpPr>
        <p:spPr>
          <a:xfrm>
            <a:off x="5175504" y="1335024"/>
            <a:ext cx="932688" cy="530352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3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4901184" y="204825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Preparacion</a:t>
            </a:r>
            <a:endParaRPr lang="es-CL" sz="1250"/>
          </a:p>
        </p:txBody>
      </p:sp>
      <p:sp>
        <p:nvSpPr>
          <p:cNvPr id="17" name="Text 17"/>
          <p:cNvSpPr txBox="1"/>
          <p:nvPr/>
        </p:nvSpPr>
        <p:spPr>
          <a:xfrm>
            <a:off x="4736592" y="2450592"/>
            <a:ext cx="197510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98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Eliminar duplicados y escalar cuando corresponde.</a:t>
            </a:r>
            <a:endParaRPr lang="es-CL" sz="980"/>
          </a:p>
        </p:txBody>
      </p:sp>
      <p:sp>
        <p:nvSpPr>
          <p:cNvPr id="18" name="Text 18"/>
          <p:cNvSpPr txBox="1"/>
          <p:nvPr/>
        </p:nvSpPr>
        <p:spPr>
          <a:xfrm>
            <a:off x="7443216" y="1335024"/>
            <a:ext cx="932688" cy="53035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4</a:t>
            </a:r>
            <a:endParaRPr lang="es-CL" sz="1800"/>
          </a:p>
        </p:txBody>
      </p:sp>
      <p:sp>
        <p:nvSpPr>
          <p:cNvPr id="19" name="Text 19"/>
          <p:cNvSpPr txBox="1"/>
          <p:nvPr/>
        </p:nvSpPr>
        <p:spPr>
          <a:xfrm>
            <a:off x="7168896" y="204825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Modelos</a:t>
            </a:r>
            <a:endParaRPr lang="es-CL" sz="1250"/>
          </a:p>
        </p:txBody>
      </p:sp>
      <p:sp>
        <p:nvSpPr>
          <p:cNvPr id="20" name="Text 20"/>
          <p:cNvSpPr txBox="1"/>
          <p:nvPr/>
        </p:nvSpPr>
        <p:spPr>
          <a:xfrm>
            <a:off x="7004304" y="2450592"/>
            <a:ext cx="197510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98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Comparar clasificadores y aplicar K-Means.</a:t>
            </a:r>
            <a:endParaRPr lang="es-CL" sz="980"/>
          </a:p>
        </p:txBody>
      </p:sp>
      <p:sp>
        <p:nvSpPr>
          <p:cNvPr id="21" name="Text 21"/>
          <p:cNvSpPr txBox="1"/>
          <p:nvPr/>
        </p:nvSpPr>
        <p:spPr>
          <a:xfrm>
            <a:off x="9710928" y="1335024"/>
            <a:ext cx="932688" cy="530352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  <p:txBody>
          <a:bodyPr wrap="square" anchor="mid" lIns="64008" tIns="64008" rIns="64008" bIns="64008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80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5</a:t>
            </a:r>
            <a:endParaRPr lang="es-CL" sz="1800"/>
          </a:p>
        </p:txBody>
      </p:sp>
      <p:sp>
        <p:nvSpPr>
          <p:cNvPr id="22" name="Text 22"/>
          <p:cNvSpPr txBox="1"/>
          <p:nvPr/>
        </p:nvSpPr>
        <p:spPr>
          <a:xfrm>
            <a:off x="9436608" y="2048256"/>
            <a:ext cx="168249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Evaluacion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9272016" y="2450592"/>
            <a:ext cx="197510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98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Interpretar metricas, limites y evidencia.</a:t>
            </a:r>
            <a:endParaRPr lang="es-CL" sz="980"/>
          </a:p>
        </p:txBody>
      </p:sp>
      <p:sp>
        <p:nvSpPr>
          <p:cNvPr id="24" name="Text 24"/>
          <p:cNvSpPr txBox="1"/>
          <p:nvPr/>
        </p:nvSpPr>
        <p:spPr>
          <a:xfrm>
            <a:off x="841248" y="3977640"/>
            <a:ext cx="5349240" cy="12435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Clasificacion supervisada</a:t>
            </a:r>
            <a:endParaRPr lang="es-CL" sz="1300"/>
          </a:p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Se compararon KNN, regresion logistica y arbol de decision con split estratificado y validacion cruzada de cinco pliegues.</a:t>
            </a:r>
            <a:endParaRPr lang="es-CL" sz="1300"/>
          </a:p>
        </p:txBody>
      </p:sp>
      <p:sp>
        <p:nvSpPr>
          <p:cNvPr id="25" name="Text 25"/>
          <p:cNvSpPr txBox="1"/>
          <p:nvPr/>
        </p:nvSpPr>
        <p:spPr>
          <a:xfrm>
            <a:off x="6656832" y="3977640"/>
            <a:ext cx="4553712" cy="1243584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Clustering</a:t>
            </a:r>
            <a:endParaRPr lang="es-CL" sz="1300"/>
          </a:p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K-Means uso solo variables continuas escaladas; target quedo fuera de la entrada y se uso despues para perfilar.</a:t>
            </a:r>
            <a:endParaRPr lang="es-CL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EXPLORACION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Distribucion y patrones por target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07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25296"/>
            <a:ext cx="4590288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1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444752"/>
            <a:ext cx="3730752" cy="248716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87552" y="4169664"/>
            <a:ext cx="404164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1. Distribucion de target en dataset depurado.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5833872" y="1335024"/>
            <a:ext cx="2359152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5833872" y="1335024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035040" y="1463040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SIN ENFERMEDAD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6035040" y="1682496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138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503920" y="1335024"/>
            <a:ext cx="2359152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503920" y="1335024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705088" y="1463040"/>
            <a:ext cx="206654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CON ENFERMEDAD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705088" y="1682496"/>
            <a:ext cx="206654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164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5833872" y="2615184"/>
            <a:ext cx="235915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5833872" y="2615184"/>
            <a:ext cx="73152" cy="1353312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053328" y="2761488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Balance</a:t>
            </a:r>
            <a:endParaRPr lang="es-CL" sz="1250"/>
          </a:p>
        </p:txBody>
      </p:sp>
      <p:sp>
        <p:nvSpPr>
          <p:cNvPr id="23" name="Text 23"/>
          <p:cNvSpPr txBox="1"/>
          <p:nvPr/>
        </p:nvSpPr>
        <p:spPr>
          <a:xfrm>
            <a:off x="6053328" y="3090672"/>
            <a:ext cx="2029968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La proporcion target=1 es 0,543; no hay desbalance extremo.</a:t>
            </a:r>
            <a:endParaRPr lang="es-CL" sz="1040"/>
          </a:p>
        </p:txBody>
      </p:sp>
      <p:sp>
        <p:nvSpPr>
          <p:cNvPr id="24" name="Text 24"/>
          <p:cNvSpPr txBox="1"/>
          <p:nvPr/>
        </p:nvSpPr>
        <p:spPr>
          <a:xfrm>
            <a:off x="8503920" y="2615184"/>
            <a:ext cx="2359152" cy="13533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503920" y="2615184"/>
            <a:ext cx="73152" cy="1353312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723376" y="2761488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Lectura</a:t>
            </a:r>
            <a:endParaRPr lang="es-CL" sz="1250"/>
          </a:p>
        </p:txBody>
      </p:sp>
      <p:sp>
        <p:nvSpPr>
          <p:cNvPr id="27" name="Text 27"/>
          <p:cNvSpPr txBox="1"/>
          <p:nvPr/>
        </p:nvSpPr>
        <p:spPr>
          <a:xfrm>
            <a:off x="8723376" y="3090672"/>
            <a:ext cx="2029968" cy="7680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Las comparaciones se interpretan como senales exploratorias, no diagnostico.</a:t>
            </a:r>
            <a:endParaRPr lang="es-CL" sz="1040"/>
          </a:p>
        </p:txBody>
      </p:sp>
      <p:sp>
        <p:nvSpPr>
          <p:cNvPr id="28" name="Text 28"/>
          <p:cNvSpPr txBox="1"/>
          <p:nvPr/>
        </p:nvSpPr>
        <p:spPr>
          <a:xfrm>
            <a:off x="6144768" y="4590288"/>
            <a:ext cx="4407408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El dataset permite comparar grupos y construir indicadores interpretables para BI en salud.</a:t>
            </a:r>
            <a:endParaRPr lang="es-CL" sz="13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EXPLORACION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Variables mas asociadas con target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08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188720"/>
            <a:ext cx="5102352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2_corre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418" y="1389888"/>
            <a:ext cx="4411980" cy="3529584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896112" y="5047488"/>
            <a:ext cx="47365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2. Matriz de correlacion de variables del dataset.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6272784" y="1261872"/>
            <a:ext cx="1170432" cy="3840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exang</a:t>
            </a:r>
            <a:endParaRPr lang="es-CL" sz="1250"/>
          </a:p>
        </p:txBody>
      </p:sp>
      <p:sp>
        <p:nvSpPr>
          <p:cNvPr id="13" name="Text 13"/>
          <p:cNvSpPr txBox="1"/>
          <p:nvPr/>
        </p:nvSpPr>
        <p:spPr>
          <a:xfrm>
            <a:off x="7626096" y="1289304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 = -0,436</a:t>
            </a:r>
            <a:endParaRPr lang="es-CL" sz="1420"/>
          </a:p>
        </p:txBody>
      </p:sp>
      <p:sp>
        <p:nvSpPr>
          <p:cNvPr id="14" name="Text 14"/>
          <p:cNvSpPr txBox="1"/>
          <p:nvPr/>
        </p:nvSpPr>
        <p:spPr>
          <a:xfrm>
            <a:off x="6272784" y="1956816"/>
            <a:ext cx="1170432" cy="3840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cp</a:t>
            </a:r>
            <a:endParaRPr lang="es-CL" sz="1250"/>
          </a:p>
        </p:txBody>
      </p:sp>
      <p:sp>
        <p:nvSpPr>
          <p:cNvPr id="15" name="Text 15"/>
          <p:cNvSpPr txBox="1"/>
          <p:nvPr/>
        </p:nvSpPr>
        <p:spPr>
          <a:xfrm>
            <a:off x="7626096" y="1984248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 = 0,432</a:t>
            </a:r>
            <a:endParaRPr lang="es-CL" sz="1420"/>
          </a:p>
        </p:txBody>
      </p:sp>
      <p:sp>
        <p:nvSpPr>
          <p:cNvPr id="16" name="Text 16"/>
          <p:cNvSpPr txBox="1"/>
          <p:nvPr/>
        </p:nvSpPr>
        <p:spPr>
          <a:xfrm>
            <a:off x="6272784" y="2651760"/>
            <a:ext cx="1170432" cy="3840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oldpeak</a:t>
            </a:r>
            <a:endParaRPr lang="es-CL" sz="1250"/>
          </a:p>
        </p:txBody>
      </p:sp>
      <p:sp>
        <p:nvSpPr>
          <p:cNvPr id="17" name="Text 17"/>
          <p:cNvSpPr txBox="1"/>
          <p:nvPr/>
        </p:nvSpPr>
        <p:spPr>
          <a:xfrm>
            <a:off x="7626096" y="2679192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 = -0,429</a:t>
            </a:r>
            <a:endParaRPr lang="es-CL" sz="1420"/>
          </a:p>
        </p:txBody>
      </p:sp>
      <p:sp>
        <p:nvSpPr>
          <p:cNvPr id="18" name="Text 18"/>
          <p:cNvSpPr txBox="1"/>
          <p:nvPr/>
        </p:nvSpPr>
        <p:spPr>
          <a:xfrm>
            <a:off x="6272784" y="3346704"/>
            <a:ext cx="1170432" cy="3840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thalach</a:t>
            </a:r>
            <a:endParaRPr lang="es-CL" sz="1250"/>
          </a:p>
        </p:txBody>
      </p:sp>
      <p:sp>
        <p:nvSpPr>
          <p:cNvPr id="19" name="Text 19"/>
          <p:cNvSpPr txBox="1"/>
          <p:nvPr/>
        </p:nvSpPr>
        <p:spPr>
          <a:xfrm>
            <a:off x="7626096" y="337413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 = 0,420</a:t>
            </a:r>
            <a:endParaRPr lang="es-CL" sz="1420"/>
          </a:p>
        </p:txBody>
      </p:sp>
      <p:sp>
        <p:nvSpPr>
          <p:cNvPr id="20" name="Text 20"/>
          <p:cNvSpPr txBox="1"/>
          <p:nvPr/>
        </p:nvSpPr>
        <p:spPr>
          <a:xfrm>
            <a:off x="6272784" y="4041648"/>
            <a:ext cx="1170432" cy="3840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  <p:txBody>
          <a:bodyPr wrap="square" anchor="mid" lIns="45720" tIns="45720" rIns="45720" b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 b="1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ca</a:t>
            </a:r>
            <a:endParaRPr lang="es-CL" sz="1250"/>
          </a:p>
        </p:txBody>
      </p:sp>
      <p:sp>
        <p:nvSpPr>
          <p:cNvPr id="21" name="Text 21"/>
          <p:cNvSpPr txBox="1"/>
          <p:nvPr/>
        </p:nvSpPr>
        <p:spPr>
          <a:xfrm>
            <a:off x="7626096" y="4069080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42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 = -0,409</a:t>
            </a:r>
            <a:endParaRPr lang="es-CL" sz="1420"/>
          </a:p>
        </p:txBody>
      </p:sp>
      <p:sp>
        <p:nvSpPr>
          <p:cNvPr id="22" name="Text 22"/>
          <p:cNvSpPr txBox="1"/>
          <p:nvPr/>
        </p:nvSpPr>
        <p:spPr>
          <a:xfrm>
            <a:off x="6291072" y="4974336"/>
            <a:ext cx="4498848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2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Variables categoricas codificadas: la correlacion se lee como asociacion numerica exploratoria.</a:t>
            </a:r>
            <a:endParaRPr lang="es-CL" sz="12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CLASIFICACION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Comparacion de modelos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09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25296"/>
            <a:ext cx="4828032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4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65376"/>
            <a:ext cx="4315968" cy="2157984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69264" y="4645152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3. Comparacion visual de metricas de clasificacion.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6053328" y="1335024"/>
            <a:ext cx="2450592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6053328" y="1335024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254496" y="1463040"/>
            <a:ext cx="21579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KNN K=9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6254496" y="1682496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F1 0,832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741664" y="1335024"/>
            <a:ext cx="2450592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741664" y="1335024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942832" y="1463040"/>
            <a:ext cx="21579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LOGISTICA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942832" y="1682496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F1 0,828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6053328" y="2432304"/>
            <a:ext cx="2450592" cy="841248"/>
          </a:xfrm>
          <a:prstGeom prst="roundRect">
            <a:avLst/>
          </a:prstGeom>
          <a:solidFill>
            <a:srgbClr val="FFF5DD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6053328" y="2432304"/>
            <a:ext cx="73152" cy="84124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254496" y="2560320"/>
            <a:ext cx="21579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ARBOL</a:t>
            </a:r>
            <a:endParaRPr lang="es-CL" sz="820"/>
          </a:p>
        </p:txBody>
      </p:sp>
      <p:sp>
        <p:nvSpPr>
          <p:cNvPr id="23" name="Text 23"/>
          <p:cNvSpPr txBox="1"/>
          <p:nvPr/>
        </p:nvSpPr>
        <p:spPr>
          <a:xfrm>
            <a:off x="6254496" y="2779776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F1 0,814</a:t>
            </a:r>
            <a:endParaRPr lang="es-CL" sz="1800"/>
          </a:p>
        </p:txBody>
      </p:sp>
      <p:sp>
        <p:nvSpPr>
          <p:cNvPr id="24" name="Text 24"/>
          <p:cNvSpPr txBox="1"/>
          <p:nvPr/>
        </p:nvSpPr>
        <p:spPr>
          <a:xfrm>
            <a:off x="8741664" y="2432304"/>
            <a:ext cx="2450592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741664" y="2432304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942832" y="2560320"/>
            <a:ext cx="21579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RECALL KNN</a:t>
            </a:r>
            <a:endParaRPr lang="es-CL" sz="820"/>
          </a:p>
        </p:txBody>
      </p:sp>
      <p:sp>
        <p:nvSpPr>
          <p:cNvPr id="27" name="Text 27"/>
          <p:cNvSpPr txBox="1"/>
          <p:nvPr/>
        </p:nvSpPr>
        <p:spPr>
          <a:xfrm>
            <a:off x="8942832" y="2779776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0,902</a:t>
            </a:r>
            <a:endParaRPr lang="es-CL" sz="1800"/>
          </a:p>
        </p:txBody>
      </p:sp>
      <p:sp>
        <p:nvSpPr>
          <p:cNvPr id="28" name="Text 28"/>
          <p:cNvSpPr txBox="1"/>
          <p:nvPr/>
        </p:nvSpPr>
        <p:spPr>
          <a:xfrm>
            <a:off x="6053328" y="3803904"/>
            <a:ext cx="5138928" cy="11155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9" name="Shape 29"/>
          <p:cNvSpPr/>
          <p:nvPr/>
        </p:nvSpPr>
        <p:spPr>
          <a:xfrm>
            <a:off x="6053328" y="3803904"/>
            <a:ext cx="73152" cy="111556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272784" y="3950208"/>
            <a:ext cx="480974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Resultado</a:t>
            </a:r>
            <a:endParaRPr lang="es-CL" sz="1250"/>
          </a:p>
        </p:txBody>
      </p:sp>
      <p:sp>
        <p:nvSpPr>
          <p:cNvPr id="31" name="Text 31"/>
          <p:cNvSpPr txBox="1"/>
          <p:nvPr/>
        </p:nvSpPr>
        <p:spPr>
          <a:xfrm>
            <a:off x="6272784" y="4279392"/>
            <a:ext cx="4809744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KNN obtuvo el mejor F1 en el split final; validacion cruzada muestra desempenos muy cercanos entre KNN y regresion logistica.</a:t>
            </a:r>
            <a:endParaRPr lang="es-CL" sz="10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CLASIFICACION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Matriz de confusion del mejor modelo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10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225296"/>
            <a:ext cx="4956048" cy="39684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5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1481328"/>
            <a:ext cx="3840480" cy="3072384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1078992" y="4736592"/>
            <a:ext cx="42245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4. Matriz de confusion para KNN k=9.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6144768" y="1335024"/>
            <a:ext cx="2267712" cy="841248"/>
          </a:xfrm>
          <a:prstGeom prst="roundRect">
            <a:avLst/>
          </a:prstGeom>
          <a:solidFill>
            <a:srgbClr val="E8F1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6144768" y="1335024"/>
            <a:ext cx="73152" cy="841248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345936" y="1463040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VN</a:t>
            </a:r>
            <a:endParaRPr lang="es-CL" sz="820"/>
          </a:p>
        </p:txBody>
      </p:sp>
      <p:sp>
        <p:nvSpPr>
          <p:cNvPr id="15" name="Text 15"/>
          <p:cNvSpPr txBox="1"/>
          <p:nvPr/>
        </p:nvSpPr>
        <p:spPr>
          <a:xfrm>
            <a:off x="6345936" y="168249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24</a:t>
            </a:r>
            <a:endParaRPr lang="es-CL" sz="1800"/>
          </a:p>
        </p:txBody>
      </p:sp>
      <p:sp>
        <p:nvSpPr>
          <p:cNvPr id="16" name="Text 16"/>
          <p:cNvSpPr txBox="1"/>
          <p:nvPr/>
        </p:nvSpPr>
        <p:spPr>
          <a:xfrm>
            <a:off x="8668512" y="1335024"/>
            <a:ext cx="2267712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668512" y="1335024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869680" y="1463040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VP</a:t>
            </a:r>
            <a:endParaRPr lang="es-CL" sz="820"/>
          </a:p>
        </p:txBody>
      </p:sp>
      <p:sp>
        <p:nvSpPr>
          <p:cNvPr id="19" name="Text 19"/>
          <p:cNvSpPr txBox="1"/>
          <p:nvPr/>
        </p:nvSpPr>
        <p:spPr>
          <a:xfrm>
            <a:off x="8869680" y="1682496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37</a:t>
            </a:r>
            <a:endParaRPr lang="es-CL" sz="1800"/>
          </a:p>
        </p:txBody>
      </p:sp>
      <p:sp>
        <p:nvSpPr>
          <p:cNvPr id="20" name="Text 20"/>
          <p:cNvSpPr txBox="1"/>
          <p:nvPr/>
        </p:nvSpPr>
        <p:spPr>
          <a:xfrm>
            <a:off x="6144768" y="2395728"/>
            <a:ext cx="2267712" cy="841248"/>
          </a:xfrm>
          <a:prstGeom prst="roundRect">
            <a:avLst/>
          </a:prstGeom>
          <a:solidFill>
            <a:srgbClr val="FFF5DD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1" name="Shape 21"/>
          <p:cNvSpPr/>
          <p:nvPr/>
        </p:nvSpPr>
        <p:spPr>
          <a:xfrm>
            <a:off x="6144768" y="2395728"/>
            <a:ext cx="73152" cy="841248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6345936" y="2523744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FP</a:t>
            </a:r>
            <a:endParaRPr lang="es-CL" sz="820"/>
          </a:p>
        </p:txBody>
      </p:sp>
      <p:sp>
        <p:nvSpPr>
          <p:cNvPr id="23" name="Text 23"/>
          <p:cNvSpPr txBox="1"/>
          <p:nvPr/>
        </p:nvSpPr>
        <p:spPr>
          <a:xfrm>
            <a:off x="6345936" y="2743200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11</a:t>
            </a:r>
            <a:endParaRPr lang="es-CL" sz="1800"/>
          </a:p>
        </p:txBody>
      </p:sp>
      <p:sp>
        <p:nvSpPr>
          <p:cNvPr id="24" name="Text 24"/>
          <p:cNvSpPr txBox="1"/>
          <p:nvPr/>
        </p:nvSpPr>
        <p:spPr>
          <a:xfrm>
            <a:off x="8668512" y="2395728"/>
            <a:ext cx="2267712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5" name="Shape 25"/>
          <p:cNvSpPr/>
          <p:nvPr/>
        </p:nvSpPr>
        <p:spPr>
          <a:xfrm>
            <a:off x="8668512" y="2395728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869680" y="2523744"/>
            <a:ext cx="197510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FN</a:t>
            </a:r>
            <a:endParaRPr lang="es-CL" sz="820"/>
          </a:p>
        </p:txBody>
      </p:sp>
      <p:sp>
        <p:nvSpPr>
          <p:cNvPr id="27" name="Text 27"/>
          <p:cNvSpPr txBox="1"/>
          <p:nvPr/>
        </p:nvSpPr>
        <p:spPr>
          <a:xfrm>
            <a:off x="8869680" y="2743200"/>
            <a:ext cx="1975104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4</a:t>
            </a:r>
            <a:endParaRPr lang="es-CL" sz="1800"/>
          </a:p>
        </p:txBody>
      </p:sp>
      <p:sp>
        <p:nvSpPr>
          <p:cNvPr id="28" name="Text 28"/>
          <p:cNvSpPr txBox="1"/>
          <p:nvPr/>
        </p:nvSpPr>
        <p:spPr>
          <a:xfrm>
            <a:off x="6144768" y="3712464"/>
            <a:ext cx="4791456" cy="12070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9" name="Shape 29"/>
          <p:cNvSpPr/>
          <p:nvPr/>
        </p:nvSpPr>
        <p:spPr>
          <a:xfrm>
            <a:off x="6144768" y="3712464"/>
            <a:ext cx="73152" cy="1207008"/>
          </a:xfrm>
          <a:prstGeom prst="round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6364224" y="3858768"/>
            <a:ext cx="4462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Interpretacion</a:t>
            </a:r>
            <a:endParaRPr lang="es-CL" sz="1250"/>
          </a:p>
        </p:txBody>
      </p:sp>
      <p:sp>
        <p:nvSpPr>
          <p:cNvPr id="31" name="Text 31"/>
          <p:cNvSpPr txBox="1"/>
          <p:nvPr/>
        </p:nvSpPr>
        <p:spPr>
          <a:xfrm>
            <a:off x="6364224" y="4187952"/>
            <a:ext cx="4462272" cy="6217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El modelo detecta la mayoria de casos target=1, pero no reemplaza juicio clinico. Su utilidad es academica y exploratoria.</a:t>
            </a:r>
            <a:endParaRPr lang="es-CL" sz="10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CLUSTERING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Segmentacion exploratoria con K-Means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11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188720"/>
            <a:ext cx="3694176" cy="4041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6_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11680"/>
            <a:ext cx="3328416" cy="1901952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896112" y="4681728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5. Codo y silueta para seleccion de k.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4553712" y="1188720"/>
            <a:ext cx="3072384" cy="4041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3" name="fig07_cluster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996005"/>
            <a:ext cx="2706624" cy="1933303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4736592" y="4681728"/>
            <a:ext cx="270662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6. Proyeccion PCA de clusters.</a:t>
            </a:r>
            <a:endParaRPr lang="es-CL" sz="840"/>
          </a:p>
        </p:txBody>
      </p:sp>
      <p:sp>
        <p:nvSpPr>
          <p:cNvPr id="15" name="Text 15"/>
          <p:cNvSpPr txBox="1"/>
          <p:nvPr/>
        </p:nvSpPr>
        <p:spPr>
          <a:xfrm>
            <a:off x="8028432" y="1298448"/>
            <a:ext cx="2615184" cy="841248"/>
          </a:xfrm>
          <a:prstGeom prst="roundRect">
            <a:avLst/>
          </a:prstGeom>
          <a:solidFill>
            <a:srgbClr val="E6F4F1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6" name="Shape 16"/>
          <p:cNvSpPr/>
          <p:nvPr/>
        </p:nvSpPr>
        <p:spPr>
          <a:xfrm>
            <a:off x="8028432" y="1298448"/>
            <a:ext cx="73152" cy="841248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29600" y="1426464"/>
            <a:ext cx="23225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MEJOR K</a:t>
            </a:r>
            <a:endParaRPr lang="es-CL" sz="820"/>
          </a:p>
        </p:txBody>
      </p:sp>
      <p:sp>
        <p:nvSpPr>
          <p:cNvPr id="18" name="Text 18"/>
          <p:cNvSpPr txBox="1"/>
          <p:nvPr/>
        </p:nvSpPr>
        <p:spPr>
          <a:xfrm>
            <a:off x="8229600" y="1645920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2</a:t>
            </a:r>
            <a:endParaRPr lang="es-CL" sz="1800"/>
          </a:p>
        </p:txBody>
      </p:sp>
      <p:sp>
        <p:nvSpPr>
          <p:cNvPr id="19" name="Text 19"/>
          <p:cNvSpPr txBox="1"/>
          <p:nvPr/>
        </p:nvSpPr>
        <p:spPr>
          <a:xfrm>
            <a:off x="8028432" y="2377440"/>
            <a:ext cx="2615184" cy="841248"/>
          </a:xfrm>
          <a:prstGeom prst="roundRect">
            <a:avLst/>
          </a:prstGeom>
          <a:solidFill>
            <a:srgbClr val="FCEDEA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0" name="Shape 20"/>
          <p:cNvSpPr/>
          <p:nvPr/>
        </p:nvSpPr>
        <p:spPr>
          <a:xfrm>
            <a:off x="8028432" y="2377440"/>
            <a:ext cx="73152" cy="841248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229600" y="2505456"/>
            <a:ext cx="2322576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2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SILUETA</a:t>
            </a:r>
            <a:endParaRPr lang="es-CL" sz="820"/>
          </a:p>
        </p:txBody>
      </p:sp>
      <p:sp>
        <p:nvSpPr>
          <p:cNvPr id="22" name="Text 22"/>
          <p:cNvSpPr txBox="1"/>
          <p:nvPr/>
        </p:nvSpPr>
        <p:spPr>
          <a:xfrm>
            <a:off x="8229600" y="2724912"/>
            <a:ext cx="232257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0,240</a:t>
            </a:r>
            <a:endParaRPr lang="es-CL" sz="1800"/>
          </a:p>
        </p:txBody>
      </p:sp>
      <p:sp>
        <p:nvSpPr>
          <p:cNvPr id="23" name="Text 23"/>
          <p:cNvSpPr txBox="1"/>
          <p:nvPr/>
        </p:nvSpPr>
        <p:spPr>
          <a:xfrm>
            <a:off x="8028432" y="3675888"/>
            <a:ext cx="2615184" cy="11521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24" name="Shape 24"/>
          <p:cNvSpPr/>
          <p:nvPr/>
        </p:nvSpPr>
        <p:spPr>
          <a:xfrm>
            <a:off x="8028432" y="3675888"/>
            <a:ext cx="73152" cy="1152144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47888" y="3822192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Lectura</a:t>
            </a:r>
            <a:endParaRPr lang="es-CL" sz="1250"/>
          </a:p>
        </p:txBody>
      </p:sp>
      <p:sp>
        <p:nvSpPr>
          <p:cNvPr id="26" name="Text 26"/>
          <p:cNvSpPr txBox="1"/>
          <p:nvPr/>
        </p:nvSpPr>
        <p:spPr>
          <a:xfrm>
            <a:off x="8247888" y="4151376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Los grupos ayudan a perfilar pacientes, pero la separacion es limitada.</a:t>
            </a:r>
            <a:endParaRPr lang="es-CL" sz="104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PERFILES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Resultados de clusters y conclusiones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12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13232" y="1188720"/>
            <a:ext cx="4297680" cy="40416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36576" tIns="36576" r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pic>
        <p:nvPicPr>
          <p:cNvPr id="10" name="fig08_perfiles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873504"/>
            <a:ext cx="3822192" cy="2123440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0976" y="4663440"/>
            <a:ext cx="382219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84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Fig. 7. Perfiles relativos de clusters.</a:t>
            </a:r>
            <a:endParaRPr lang="es-CL" sz="840"/>
          </a:p>
        </p:txBody>
      </p:sp>
      <p:sp>
        <p:nvSpPr>
          <p:cNvPr id="12" name="Text 12"/>
          <p:cNvSpPr txBox="1"/>
          <p:nvPr/>
        </p:nvSpPr>
        <p:spPr>
          <a:xfrm>
            <a:off x="5449824" y="1298448"/>
            <a:ext cx="2743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3" name="Shape 13"/>
          <p:cNvSpPr/>
          <p:nvPr/>
        </p:nvSpPr>
        <p:spPr>
          <a:xfrm>
            <a:off x="5449824" y="1298448"/>
            <a:ext cx="73152" cy="1463040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5669280" y="1444752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Cluster 0</a:t>
            </a:r>
            <a:endParaRPr lang="es-CL" sz="1250"/>
          </a:p>
        </p:txBody>
      </p:sp>
      <p:sp>
        <p:nvSpPr>
          <p:cNvPr id="15" name="Text 15"/>
          <p:cNvSpPr txBox="1"/>
          <p:nvPr/>
        </p:nvSpPr>
        <p:spPr>
          <a:xfrm>
            <a:off x="5669280" y="1773936"/>
            <a:ext cx="2414016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n=173; target=1 promedio 0,717; edad media 49,6; thalach media 161,5; oldpeak 0,52.</a:t>
            </a:r>
            <a:endParaRPr lang="es-CL" sz="1040"/>
          </a:p>
        </p:txBody>
      </p:sp>
      <p:sp>
        <p:nvSpPr>
          <p:cNvPr id="16" name="Text 16"/>
          <p:cNvSpPr txBox="1"/>
          <p:nvPr/>
        </p:nvSpPr>
        <p:spPr>
          <a:xfrm>
            <a:off x="8485632" y="1298448"/>
            <a:ext cx="274320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7" name="Shape 17"/>
          <p:cNvSpPr/>
          <p:nvPr/>
        </p:nvSpPr>
        <p:spPr>
          <a:xfrm>
            <a:off x="8485632" y="1298448"/>
            <a:ext cx="73152" cy="1463040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8705088" y="1444752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Cluster 1</a:t>
            </a:r>
            <a:endParaRPr lang="es-CL" sz="1250"/>
          </a:p>
        </p:txBody>
      </p:sp>
      <p:sp>
        <p:nvSpPr>
          <p:cNvPr id="19" name="Text 19"/>
          <p:cNvSpPr txBox="1"/>
          <p:nvPr/>
        </p:nvSpPr>
        <p:spPr>
          <a:xfrm>
            <a:off x="8705088" y="1773936"/>
            <a:ext cx="2414016" cy="8778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n=129; target=1 promedio 0,310; edad media 60,9; thalach media 133,6; oldpeak 1,75.</a:t>
            </a:r>
            <a:endParaRPr lang="es-CL" sz="1040"/>
          </a:p>
        </p:txBody>
      </p:sp>
      <p:sp>
        <p:nvSpPr>
          <p:cNvPr id="20" name="Text 20"/>
          <p:cNvSpPr txBox="1"/>
          <p:nvPr/>
        </p:nvSpPr>
        <p:spPr>
          <a:xfrm>
            <a:off x="5449824" y="3273552"/>
            <a:ext cx="5779008" cy="1335024"/>
          </a:xfrm>
          <a:prstGeom prst="roundRect">
            <a:avLst/>
          </a:prstGeom>
          <a:solidFill>
            <a:srgbClr val="EDF2F7"/>
          </a:solidFill>
          <a:ln w="10160">
            <a:solidFill>
              <a:srgbClr val="D9E2EC"/>
            </a:solidFill>
          </a:ln>
        </p:spPr>
        <p:txBody>
          <a:bodyPr wrap="square" anchor="t" lIns="146304" tIns="146304" rIns="146304" bIns="14630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Conclusion integrada</a:t>
            </a:r>
            <a:endParaRPr lang="es-CL" sz="1300"/>
          </a:p>
          <a:p>
            <a:pPr algn="l">
              <a:spcAft>
                <a:spcPts val="400"/>
              </a:spcAft>
            </a:pPr>
            <a:r>
              <a:rPr lang="es-CL" sz="13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Los datos permiten identificar senales asociadas y modelos base reproducibles, pero las conclusiones son exploratorias por duplicados, tamano final reducido y codificacion de variables.</a:t>
            </a:r>
            <a:endParaRPr lang="es-CL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66928" y="292608"/>
            <a:ext cx="3108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50" b="1">
                <a:solidFill>
                  <a:srgbClr val="147D64"/>
                </a:solidFill>
                <a:latin typeface="Liberation Sans"/>
                <a:ea typeface="Liberation Sans"/>
                <a:cs typeface="Liberation Sans"/>
              </a:rPr>
              <a:t>CIERRE</a:t>
            </a:r>
            <a:endParaRPr lang="es-CL" sz="950"/>
          </a:p>
        </p:txBody>
      </p:sp>
      <p:sp>
        <p:nvSpPr>
          <p:cNvPr id="5" name="Text 5"/>
          <p:cNvSpPr txBox="1"/>
          <p:nvPr/>
        </p:nvSpPr>
        <p:spPr>
          <a:xfrm>
            <a:off x="566928" y="530352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250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Bibliografia y fuentes de apoyo</a:t>
            </a:r>
            <a:endParaRPr lang="es-CL" sz="2500"/>
          </a:p>
        </p:txBody>
      </p:sp>
      <p:sp>
        <p:nvSpPr>
          <p:cNvPr id="6" name="Shape 6"/>
          <p:cNvSpPr/>
          <p:nvPr/>
        </p:nvSpPr>
        <p:spPr>
          <a:xfrm>
            <a:off x="548640" y="6419088"/>
            <a:ext cx="11064240" cy="9144"/>
          </a:xfrm>
          <a:prstGeom prst="rect">
            <a:avLst/>
          </a:prstGeom>
          <a:solidFill>
            <a:srgbClr val="D9E2EC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548640" y="647395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85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DI05 | INFO1184 | Heart Disease</a:t>
            </a:r>
            <a:endParaRPr lang="es-CL" sz="850"/>
          </a:p>
        </p:txBody>
      </p:sp>
      <p:sp>
        <p:nvSpPr>
          <p:cNvPr id="8" name="Text 8"/>
          <p:cNvSpPr txBox="1"/>
          <p:nvPr/>
        </p:nvSpPr>
        <p:spPr>
          <a:xfrm>
            <a:off x="11155680" y="6437376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lang="es-CL" sz="900" b="1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13</a:t>
            </a:r>
            <a:endParaRPr lang="es-CL" sz="900"/>
          </a:p>
        </p:txBody>
      </p:sp>
      <p:sp>
        <p:nvSpPr>
          <p:cNvPr id="9" name="Text 9"/>
          <p:cNvSpPr txBox="1"/>
          <p:nvPr/>
        </p:nvSpPr>
        <p:spPr>
          <a:xfrm>
            <a:off x="749808" y="1298448"/>
            <a:ext cx="3218688" cy="1700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0" name="Shape 10"/>
          <p:cNvSpPr/>
          <p:nvPr/>
        </p:nvSpPr>
        <p:spPr>
          <a:xfrm>
            <a:off x="749808" y="1298448"/>
            <a:ext cx="73152" cy="1700784"/>
          </a:xfrm>
          <a:prstGeom prst="roundRect">
            <a:avLst/>
          </a:prstGeom>
          <a:solidFill>
            <a:srgbClr val="147D64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69264" y="1444752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Conclusiones</a:t>
            </a:r>
            <a:endParaRPr lang="es-CL" sz="1250"/>
          </a:p>
        </p:txBody>
      </p:sp>
      <p:sp>
        <p:nvSpPr>
          <p:cNvPr id="12" name="Text 12"/>
          <p:cNvSpPr txBox="1"/>
          <p:nvPr/>
        </p:nvSpPr>
        <p:spPr>
          <a:xfrm>
            <a:off x="969264" y="1773936"/>
            <a:ext cx="2889504" cy="11155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Variables como exang, cp, oldpeak, thalach y ca destacan como senales exploratorias asociadas a target.</a:t>
            </a:r>
            <a:endParaRPr lang="es-CL" sz="1040"/>
          </a:p>
        </p:txBody>
      </p:sp>
      <p:sp>
        <p:nvSpPr>
          <p:cNvPr id="13" name="Text 13"/>
          <p:cNvSpPr txBox="1"/>
          <p:nvPr/>
        </p:nvSpPr>
        <p:spPr>
          <a:xfrm>
            <a:off x="4462272" y="1298448"/>
            <a:ext cx="3218688" cy="1700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4" name="Shape 14"/>
          <p:cNvSpPr/>
          <p:nvPr/>
        </p:nvSpPr>
        <p:spPr>
          <a:xfrm>
            <a:off x="4462272" y="1298448"/>
            <a:ext cx="73152" cy="1700784"/>
          </a:xfrm>
          <a:prstGeom prst="roundRect">
            <a:avLst/>
          </a:prstGeom>
          <a:solidFill>
            <a:srgbClr val="2F6FD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681728" y="1444752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Modelos</a:t>
            </a:r>
            <a:endParaRPr lang="es-CL" sz="1250"/>
          </a:p>
        </p:txBody>
      </p:sp>
      <p:sp>
        <p:nvSpPr>
          <p:cNvPr id="16" name="Text 16"/>
          <p:cNvSpPr txBox="1"/>
          <p:nvPr/>
        </p:nvSpPr>
        <p:spPr>
          <a:xfrm>
            <a:off x="4681728" y="1773936"/>
            <a:ext cx="2889504" cy="11155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KNN k=9 logro F1=0,832; regresion logistica fue muy cercana en validacion cruzada.</a:t>
            </a:r>
            <a:endParaRPr lang="es-CL" sz="1040"/>
          </a:p>
        </p:txBody>
      </p:sp>
      <p:sp>
        <p:nvSpPr>
          <p:cNvPr id="17" name="Text 17"/>
          <p:cNvSpPr txBox="1"/>
          <p:nvPr/>
        </p:nvSpPr>
        <p:spPr>
          <a:xfrm>
            <a:off x="8174736" y="1298448"/>
            <a:ext cx="3218688" cy="1700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54864" tIns="54864" r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80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/>
            </a:r>
            <a:endParaRPr lang="es-CL" sz="1800"/>
          </a:p>
        </p:txBody>
      </p:sp>
      <p:sp>
        <p:nvSpPr>
          <p:cNvPr id="18" name="Shape 18"/>
          <p:cNvSpPr/>
          <p:nvPr/>
        </p:nvSpPr>
        <p:spPr>
          <a:xfrm>
            <a:off x="8174736" y="1298448"/>
            <a:ext cx="73152" cy="1700784"/>
          </a:xfrm>
          <a:prstGeom prst="roundRect">
            <a:avLst/>
          </a:prstGeom>
          <a:solidFill>
            <a:srgbClr val="B9413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394192" y="1444752"/>
            <a:ext cx="2889504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250" b="1">
                <a:solidFill>
                  <a:srgbClr val="102A43"/>
                </a:solidFill>
                <a:latin typeface="Liberation Sans"/>
                <a:ea typeface="Liberation Sans"/>
                <a:cs typeface="Liberation Sans"/>
              </a:rPr>
              <a:t>Limites</a:t>
            </a:r>
            <a:endParaRPr lang="es-CL" sz="1250"/>
          </a:p>
        </p:txBody>
      </p:sp>
      <p:sp>
        <p:nvSpPr>
          <p:cNvPr id="20" name="Text 20"/>
          <p:cNvSpPr txBox="1"/>
          <p:nvPr/>
        </p:nvSpPr>
        <p:spPr>
          <a:xfrm>
            <a:off x="8394192" y="1773936"/>
            <a:ext cx="2889504" cy="11155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104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No constituye diagnostico medico; requiere mas datos y validacion externa para uso real.</a:t>
            </a:r>
            <a:endParaRPr lang="es-CL" sz="1040"/>
          </a:p>
        </p:txBody>
      </p:sp>
      <p:sp>
        <p:nvSpPr>
          <p:cNvPr id="21" name="Text 21"/>
          <p:cNvSpPr txBox="1"/>
          <p:nvPr/>
        </p:nvSpPr>
        <p:spPr>
          <a:xfrm>
            <a:off x="1152144" y="3657600"/>
            <a:ext cx="9893808" cy="18836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txBody>
          <a:bodyPr wrap="square" anchor="t" lIns="128016" tIns="128016" rIns="128016" bIns="128016">
            <a:spAutoFit/>
          </a:bodyPr>
          <a:lstStyle/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Fuentes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Smith (2026), Heart Disease Dataset, Kaggle.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Chapman et al. (2000), CRISP-DM 1.0.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James et al. (2021), Introduction to Statistical Learning.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Hosmer et al. (2013), Applied Logistic Regression.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Pedregosa et al. (2011), scikit-learn.</a:t>
            </a:r>
            <a:endParaRPr lang="es-CL" sz="980"/>
          </a:p>
          <a:p>
            <a:pPr algn="l">
              <a:spcAft>
                <a:spcPts val="400"/>
              </a:spcAft>
            </a:pPr>
            <a:r>
              <a:rPr lang="es-CL" sz="980">
                <a:solidFill>
                  <a:srgbClr val="243447"/>
                </a:solidFill>
                <a:latin typeface="Liberation Sans"/>
                <a:ea typeface="Liberation Sans"/>
                <a:cs typeface="Liberation Sans"/>
              </a:rPr>
              <a:t>Levano (2026), material de clases INFO1184.</a:t>
            </a:r>
            <a:endParaRPr lang="es-CL" sz="980"/>
          </a:p>
        </p:txBody>
      </p:sp>
      <p:sp>
        <p:nvSpPr>
          <p:cNvPr id="22" name="Text 22"/>
          <p:cNvSpPr txBox="1"/>
          <p:nvPr/>
        </p:nvSpPr>
        <p:spPr>
          <a:xfrm>
            <a:off x="3054096" y="5742432"/>
            <a:ext cx="6126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lang="es-CL" sz="1300">
                <a:solidFill>
                  <a:srgbClr val="65758B"/>
                </a:solidFill>
                <a:latin typeface="Liberation Sans"/>
                <a:ea typeface="Liberation Sans"/>
                <a:cs typeface="Liberation Sans"/>
              </a:rPr>
              <a:t>Presentacion de apoyo para video de 3,5 a 4 minutos.</a:t>
            </a:r>
            <a:endParaRPr lang="es-CL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05 Minimal Health">
  <a:themeElements>
    <a:clrScheme name="DI05">
      <a:dk1>
        <a:srgbClr val="102A43"/>
      </a:dk1>
      <a:lt1>
        <a:srgbClr val="F6F8FA"/>
      </a:lt1>
      <a:dk2>
        <a:srgbClr val="243447"/>
      </a:dk2>
      <a:lt2>
        <a:srgbClr val="FFFFFF"/>
      </a:lt2>
      <a:accent1>
        <a:srgbClr val="147D64"/>
      </a:accent1>
      <a:accent2>
        <a:srgbClr val="2F6FDB"/>
      </a:accent2>
      <a:accent3>
        <a:srgbClr val="B9413C"/>
      </a:accent3>
      <a:accent4>
        <a:srgbClr val="B7791F"/>
      </a:accent4>
      <a:accent5>
        <a:srgbClr val="65758B"/>
      </a:accent5>
      <a:accent6>
        <a:srgbClr val="D9E2EC"/>
      </a:accent6>
      <a:hlink>
        <a:srgbClr val="2F6FDB"/>
      </a:hlink>
      <a:folHlink>
        <a:srgbClr val="B9413C"/>
      </a:folHlink>
    </a:clrScheme>
    <a:fontScheme name="Liberation Sans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DI05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</Application>
  <PresentationFormat>On-screen Show (16:9)</PresentationFormat>
  <Slides>13</Slides>
  <Notes>0</Notes>
  <HiddenSlides>0</HiddenSlides>
  <MMClips>0</MMClips>
  <ScaleCrop>false</ScaleCrop>
  <Company>Universidad Catolica de Temuco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DI05 - Heart Disease TA05</dc:title>
  <dc:subject>INFO1184 Inteligencia de Negocios</dc:subject>
  <dc:creator>Juan Munoz, Vicente Rivera, Fernando Valdes</dc:creator>
  <cp:keywords>Heart Disease; Clasificacion; K-Means; CRISP-DM; INFO1184</cp:keywords>
  <dc:description>Presentacion profesional basada en TA05.</dc:description>
  <cp:lastModifiedBy>OpenCode</cp:lastModifiedBy>
  <dcterms:created xsi:type="dcterms:W3CDTF">2026-06-06T04:18:22Z</dcterms:created>
  <dcterms:modified xsi:type="dcterms:W3CDTF">2026-06-06T04:18:22Z</dcterms:modified>
</cp:coreProperties>
</file>